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63" r:id="rId5"/>
    <p:sldId id="265" r:id="rId6"/>
    <p:sldId id="267" r:id="rId7"/>
    <p:sldId id="266" r:id="rId8"/>
    <p:sldId id="272" r:id="rId9"/>
    <p:sldId id="279" r:id="rId10"/>
    <p:sldId id="274" r:id="rId11"/>
    <p:sldId id="277" r:id="rId12"/>
    <p:sldId id="268" r:id="rId13"/>
    <p:sldId id="28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7E3C"/>
    <a:srgbClr val="4241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576"/>
    <p:restoredTop sz="94647"/>
  </p:normalViewPr>
  <p:slideViewPr>
    <p:cSldViewPr snapToGrid="0" snapToObjects="1">
      <p:cViewPr varScale="1">
        <p:scale>
          <a:sx n="117" d="100"/>
          <a:sy n="117" d="100"/>
        </p:scale>
        <p:origin x="18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2504A-523F-7446-B002-1BDD4814A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AA087FB-4457-F629-2B15-77D4C44241F4}"/>
              </a:ext>
            </a:extLst>
          </p:cNvPr>
          <p:cNvSpPr/>
          <p:nvPr/>
        </p:nvSpPr>
        <p:spPr>
          <a:xfrm>
            <a:off x="3162391" y="1663549"/>
            <a:ext cx="4908176" cy="3530899"/>
          </a:xfrm>
          <a:prstGeom prst="rect">
            <a:avLst/>
          </a:prstGeom>
          <a:ln w="508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Sora" pitchFamily="2" charset="0"/>
                <a:cs typeface="Sora" pitchFamily="2" charset="0"/>
              </a:rPr>
              <a:t>Deterministic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16450C-6E99-3FC2-AC41-0F99BF7FA6A0}"/>
              </a:ext>
            </a:extLst>
          </p:cNvPr>
          <p:cNvSpPr/>
          <p:nvPr/>
        </p:nvSpPr>
        <p:spPr>
          <a:xfrm>
            <a:off x="8753138" y="1663549"/>
            <a:ext cx="1398488" cy="35308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08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      APIs</a:t>
            </a:r>
          </a:p>
          <a:p>
            <a:pPr algn="ctr"/>
            <a:r>
              <a:rPr lang="en-CH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     &amp;</a:t>
            </a:r>
            <a:br>
              <a:rPr lang="en-CH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</a:br>
            <a:r>
              <a:rPr lang="en-CH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     Data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E809A90-E749-4163-5DCB-7730AB214F3B}"/>
              </a:ext>
            </a:extLst>
          </p:cNvPr>
          <p:cNvCxnSpPr>
            <a:cxnSpLocks/>
          </p:cNvCxnSpPr>
          <p:nvPr/>
        </p:nvCxnSpPr>
        <p:spPr>
          <a:xfrm>
            <a:off x="8419652" y="1245196"/>
            <a:ext cx="0" cy="4682268"/>
          </a:xfrm>
          <a:prstGeom prst="line">
            <a:avLst/>
          </a:prstGeom>
          <a:ln w="2540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B4722E6-C437-7E80-F8DD-2F7C81433F84}"/>
              </a:ext>
            </a:extLst>
          </p:cNvPr>
          <p:cNvSpPr txBox="1"/>
          <p:nvPr/>
        </p:nvSpPr>
        <p:spPr>
          <a:xfrm>
            <a:off x="5027530" y="5428134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Sora" pitchFamily="2" charset="0"/>
                <a:cs typeface="Sora" pitchFamily="2" charset="0"/>
              </a:rPr>
              <a:t>Solution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90596F-421A-B97B-E226-6722FFA754B2}"/>
              </a:ext>
            </a:extLst>
          </p:cNvPr>
          <p:cNvSpPr txBox="1"/>
          <p:nvPr/>
        </p:nvSpPr>
        <p:spPr>
          <a:xfrm>
            <a:off x="8709483" y="5428134"/>
            <a:ext cx="1540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Sora" pitchFamily="2" charset="0"/>
                <a:cs typeface="Sora" pitchFamily="2" charset="0"/>
              </a:rPr>
              <a:t>Foundation</a:t>
            </a:r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5AABFBDB-ED54-ABBA-875D-B5BF4CFD7553}"/>
              </a:ext>
            </a:extLst>
          </p:cNvPr>
          <p:cNvSpPr/>
          <p:nvPr/>
        </p:nvSpPr>
        <p:spPr>
          <a:xfrm>
            <a:off x="1369100" y="2695096"/>
            <a:ext cx="1394906" cy="563878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400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Input</a:t>
            </a:r>
            <a:endParaRPr lang="en-CH" dirty="0">
              <a:solidFill>
                <a:schemeClr val="accent2"/>
              </a:solidFill>
              <a:latin typeface="Sora" pitchFamily="2" charset="0"/>
              <a:cs typeface="Sora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91A3D7-E58A-AB08-8E8C-0E8519846FBA}"/>
              </a:ext>
            </a:extLst>
          </p:cNvPr>
          <p:cNvSpPr txBox="1"/>
          <p:nvPr/>
        </p:nvSpPr>
        <p:spPr>
          <a:xfrm>
            <a:off x="1303140" y="3267269"/>
            <a:ext cx="1534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Sora" pitchFamily="2" charset="0"/>
                <a:cs typeface="Sora" pitchFamily="2" charset="0"/>
              </a:rPr>
              <a:t>Consumers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02A72DE6-D0AA-D6BC-7EAD-B39EB48104A0}"/>
              </a:ext>
            </a:extLst>
          </p:cNvPr>
          <p:cNvSpPr/>
          <p:nvPr/>
        </p:nvSpPr>
        <p:spPr>
          <a:xfrm>
            <a:off x="1343113" y="3645649"/>
            <a:ext cx="1394906" cy="563878"/>
          </a:xfrm>
          <a:prstGeom prst="lef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400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Output</a:t>
            </a:r>
            <a:endParaRPr lang="en-CH" dirty="0">
              <a:solidFill>
                <a:schemeClr val="accent2"/>
              </a:solidFill>
              <a:latin typeface="Sora" pitchFamily="2" charset="0"/>
              <a:cs typeface="Sora" pitchFamily="2" charset="0"/>
            </a:endParaRPr>
          </a:p>
        </p:txBody>
      </p:sp>
      <p:sp>
        <p:nvSpPr>
          <p:cNvPr id="4" name="Left-right Arrow 3">
            <a:extLst>
              <a:ext uri="{FF2B5EF4-FFF2-40B4-BE49-F238E27FC236}">
                <a16:creationId xmlns:a16="http://schemas.microsoft.com/office/drawing/2014/main" id="{B1C05076-2592-5AD9-6B13-BD5E8F876393}"/>
              </a:ext>
            </a:extLst>
          </p:cNvPr>
          <p:cNvSpPr/>
          <p:nvPr/>
        </p:nvSpPr>
        <p:spPr>
          <a:xfrm>
            <a:off x="7667233" y="2773200"/>
            <a:ext cx="1475338" cy="57217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2" name="Left-right Arrow 11">
            <a:extLst>
              <a:ext uri="{FF2B5EF4-FFF2-40B4-BE49-F238E27FC236}">
                <a16:creationId xmlns:a16="http://schemas.microsoft.com/office/drawing/2014/main" id="{AF398FEC-549A-0896-365C-9128B3019C40}"/>
              </a:ext>
            </a:extLst>
          </p:cNvPr>
          <p:cNvSpPr/>
          <p:nvPr/>
        </p:nvSpPr>
        <p:spPr>
          <a:xfrm>
            <a:off x="7672812" y="3603536"/>
            <a:ext cx="1475339" cy="57217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5" name="Left-right Arrow 14">
            <a:extLst>
              <a:ext uri="{FF2B5EF4-FFF2-40B4-BE49-F238E27FC236}">
                <a16:creationId xmlns:a16="http://schemas.microsoft.com/office/drawing/2014/main" id="{FFB9222E-0B30-A44B-9D27-0B412462B9D3}"/>
              </a:ext>
            </a:extLst>
          </p:cNvPr>
          <p:cNvSpPr/>
          <p:nvPr/>
        </p:nvSpPr>
        <p:spPr>
          <a:xfrm>
            <a:off x="7667233" y="1920454"/>
            <a:ext cx="1475338" cy="57217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609F88D-A8D3-E936-C52F-FB9E2FD54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7197" y="1889748"/>
            <a:ext cx="875405" cy="625289"/>
          </a:xfrm>
          <a:prstGeom prst="rect">
            <a:avLst/>
          </a:prstGeom>
        </p:spPr>
      </p:pic>
      <p:sp>
        <p:nvSpPr>
          <p:cNvPr id="17" name="Left-right Arrow 16">
            <a:extLst>
              <a:ext uri="{FF2B5EF4-FFF2-40B4-BE49-F238E27FC236}">
                <a16:creationId xmlns:a16="http://schemas.microsoft.com/office/drawing/2014/main" id="{2EC531EF-E5E0-D424-54FF-EC0C68225FF4}"/>
              </a:ext>
            </a:extLst>
          </p:cNvPr>
          <p:cNvSpPr/>
          <p:nvPr/>
        </p:nvSpPr>
        <p:spPr>
          <a:xfrm>
            <a:off x="7667232" y="4365374"/>
            <a:ext cx="1475339" cy="57217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A77B7DA-BEF1-6387-CB9D-FED065C43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989" y="2989099"/>
            <a:ext cx="698570" cy="15449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5732279-1427-B5F8-1555-754EDE4870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7012" y="4410198"/>
            <a:ext cx="482523" cy="48252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5059CAF-9901-0D39-591B-DBF8EFCB8D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8801" y="3788731"/>
            <a:ext cx="738758" cy="20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631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B5362-6B59-F467-BEE7-811055F22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B54347B-EB52-2E06-0828-1D6FF9175DD1}"/>
              </a:ext>
            </a:extLst>
          </p:cNvPr>
          <p:cNvSpPr/>
          <p:nvPr/>
        </p:nvSpPr>
        <p:spPr>
          <a:xfrm>
            <a:off x="3152666" y="1651352"/>
            <a:ext cx="4925429" cy="3543097"/>
          </a:xfrm>
          <a:custGeom>
            <a:avLst/>
            <a:gdLst>
              <a:gd name="csX0" fmla="*/ 17253 w 4925429"/>
              <a:gd name="csY0" fmla="*/ 2226429 h 2226429"/>
              <a:gd name="csX1" fmla="*/ 4925429 w 4925429"/>
              <a:gd name="csY1" fmla="*/ 2226429 h 2226429"/>
              <a:gd name="csX2" fmla="*/ 4925429 w 4925429"/>
              <a:gd name="csY2" fmla="*/ 7665 h 2226429"/>
              <a:gd name="csX3" fmla="*/ 3365979 w 4925429"/>
              <a:gd name="csY3" fmla="*/ 7665 h 2226429"/>
              <a:gd name="csX4" fmla="*/ 3400485 w 4925429"/>
              <a:gd name="csY4" fmla="*/ 593742 h 2226429"/>
              <a:gd name="csX5" fmla="*/ 1553601 w 4925429"/>
              <a:gd name="csY5" fmla="*/ 572059 h 2226429"/>
              <a:gd name="csX6" fmla="*/ 1570855 w 4925429"/>
              <a:gd name="csY6" fmla="*/ 10843 h 2226429"/>
              <a:gd name="csX7" fmla="*/ 0 w 4925429"/>
              <a:gd name="csY7" fmla="*/ 0 h 2226429"/>
              <a:gd name="csX8" fmla="*/ 17253 w 4925429"/>
              <a:gd name="csY8" fmla="*/ 2226429 h 22264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925429" h="3543097">
                <a:moveTo>
                  <a:pt x="0" y="3543097"/>
                </a:moveTo>
                <a:lnTo>
                  <a:pt x="4925429" y="3543097"/>
                </a:lnTo>
                <a:lnTo>
                  <a:pt x="4925429" y="0"/>
                </a:lnTo>
                <a:lnTo>
                  <a:pt x="3383343" y="0"/>
                </a:lnTo>
                <a:lnTo>
                  <a:pt x="3383343" y="815286"/>
                </a:lnTo>
                <a:lnTo>
                  <a:pt x="1552582" y="815286"/>
                </a:lnTo>
                <a:lnTo>
                  <a:pt x="1552582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508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CH" dirty="0"/>
            </a:br>
            <a:br>
              <a:rPr lang="en-CH" dirty="0"/>
            </a:br>
            <a:br>
              <a:rPr lang="en-CH" dirty="0"/>
            </a:br>
            <a:r>
              <a:rPr lang="en-CH" dirty="0">
                <a:latin typeface="Sora" pitchFamily="2" charset="0"/>
                <a:cs typeface="Sora" pitchFamily="2" charset="0"/>
              </a:rPr>
              <a:t>Deterministic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B4A658-F6AD-23CA-2E61-FDFEE9BDE2B2}"/>
              </a:ext>
            </a:extLst>
          </p:cNvPr>
          <p:cNvSpPr/>
          <p:nvPr/>
        </p:nvSpPr>
        <p:spPr>
          <a:xfrm>
            <a:off x="8753138" y="1663549"/>
            <a:ext cx="1398488" cy="35308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08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      APIs</a:t>
            </a:r>
          </a:p>
          <a:p>
            <a:pPr algn="ctr"/>
            <a:r>
              <a:rPr lang="en-CH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     &amp;</a:t>
            </a:r>
            <a:br>
              <a:rPr lang="en-CH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</a:br>
            <a:r>
              <a:rPr lang="en-CH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     Data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EAC0A7-2A69-13A6-2FBD-7DCBFD349BCA}"/>
              </a:ext>
            </a:extLst>
          </p:cNvPr>
          <p:cNvCxnSpPr>
            <a:cxnSpLocks/>
          </p:cNvCxnSpPr>
          <p:nvPr/>
        </p:nvCxnSpPr>
        <p:spPr>
          <a:xfrm>
            <a:off x="8419652" y="1245196"/>
            <a:ext cx="0" cy="4682268"/>
          </a:xfrm>
          <a:prstGeom prst="line">
            <a:avLst/>
          </a:prstGeom>
          <a:ln w="2540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FFAA701-AB6E-D8FB-C375-3A8482072E96}"/>
              </a:ext>
            </a:extLst>
          </p:cNvPr>
          <p:cNvSpPr txBox="1"/>
          <p:nvPr/>
        </p:nvSpPr>
        <p:spPr>
          <a:xfrm>
            <a:off x="5027530" y="5428134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Sora" pitchFamily="2" charset="0"/>
                <a:cs typeface="Sora" pitchFamily="2" charset="0"/>
              </a:rPr>
              <a:t>Solution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8A4ACB-9204-1C79-E738-06BB7D57EDC2}"/>
              </a:ext>
            </a:extLst>
          </p:cNvPr>
          <p:cNvSpPr txBox="1"/>
          <p:nvPr/>
        </p:nvSpPr>
        <p:spPr>
          <a:xfrm>
            <a:off x="8709483" y="5428134"/>
            <a:ext cx="1540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Sora" pitchFamily="2" charset="0"/>
                <a:cs typeface="Sora" pitchFamily="2" charset="0"/>
              </a:rPr>
              <a:t>Foundation</a:t>
            </a:r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78A5B168-F109-40E1-5027-727657CA7D78}"/>
              </a:ext>
            </a:extLst>
          </p:cNvPr>
          <p:cNvSpPr/>
          <p:nvPr/>
        </p:nvSpPr>
        <p:spPr>
          <a:xfrm>
            <a:off x="1369100" y="2695096"/>
            <a:ext cx="1394906" cy="563878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400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Input</a:t>
            </a:r>
            <a:endParaRPr lang="en-CH" dirty="0">
              <a:solidFill>
                <a:schemeClr val="accent2"/>
              </a:solidFill>
              <a:latin typeface="Sora" pitchFamily="2" charset="0"/>
              <a:cs typeface="Sora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2FA226-55A8-D2A4-7704-FCD9B6BD7C2B}"/>
              </a:ext>
            </a:extLst>
          </p:cNvPr>
          <p:cNvSpPr txBox="1"/>
          <p:nvPr/>
        </p:nvSpPr>
        <p:spPr>
          <a:xfrm>
            <a:off x="1303140" y="3267269"/>
            <a:ext cx="1534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Sora" pitchFamily="2" charset="0"/>
                <a:cs typeface="Sora" pitchFamily="2" charset="0"/>
              </a:rPr>
              <a:t>Consumers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B44688B0-C24F-FB39-D8B4-C7CEB19BF331}"/>
              </a:ext>
            </a:extLst>
          </p:cNvPr>
          <p:cNvSpPr/>
          <p:nvPr/>
        </p:nvSpPr>
        <p:spPr>
          <a:xfrm>
            <a:off x="1343113" y="3645649"/>
            <a:ext cx="1394906" cy="563878"/>
          </a:xfrm>
          <a:prstGeom prst="lef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400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Output</a:t>
            </a:r>
            <a:endParaRPr lang="en-CH" dirty="0">
              <a:solidFill>
                <a:schemeClr val="accent2"/>
              </a:solidFill>
              <a:latin typeface="Sora" pitchFamily="2" charset="0"/>
              <a:cs typeface="Sora" pitchFamily="2" charset="0"/>
            </a:endParaRPr>
          </a:p>
        </p:txBody>
      </p:sp>
      <p:sp>
        <p:nvSpPr>
          <p:cNvPr id="4" name="Left-right Arrow 3">
            <a:extLst>
              <a:ext uri="{FF2B5EF4-FFF2-40B4-BE49-F238E27FC236}">
                <a16:creationId xmlns:a16="http://schemas.microsoft.com/office/drawing/2014/main" id="{45FFA460-0679-FECE-03C2-223B62F0D295}"/>
              </a:ext>
            </a:extLst>
          </p:cNvPr>
          <p:cNvSpPr/>
          <p:nvPr/>
        </p:nvSpPr>
        <p:spPr>
          <a:xfrm>
            <a:off x="7667233" y="2773200"/>
            <a:ext cx="1475338" cy="57217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2" name="Left-right Arrow 11">
            <a:extLst>
              <a:ext uri="{FF2B5EF4-FFF2-40B4-BE49-F238E27FC236}">
                <a16:creationId xmlns:a16="http://schemas.microsoft.com/office/drawing/2014/main" id="{17B528EB-69BF-7D51-CF1F-97B99988BE53}"/>
              </a:ext>
            </a:extLst>
          </p:cNvPr>
          <p:cNvSpPr/>
          <p:nvPr/>
        </p:nvSpPr>
        <p:spPr>
          <a:xfrm>
            <a:off x="7672812" y="3603536"/>
            <a:ext cx="1475339" cy="57217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5" name="Left-right Arrow 14">
            <a:extLst>
              <a:ext uri="{FF2B5EF4-FFF2-40B4-BE49-F238E27FC236}">
                <a16:creationId xmlns:a16="http://schemas.microsoft.com/office/drawing/2014/main" id="{1FFF133E-C701-FFEF-681A-ADF0CBE32D55}"/>
              </a:ext>
            </a:extLst>
          </p:cNvPr>
          <p:cNvSpPr/>
          <p:nvPr/>
        </p:nvSpPr>
        <p:spPr>
          <a:xfrm>
            <a:off x="7667233" y="1920454"/>
            <a:ext cx="1475338" cy="57217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1E4FE04-B7EB-188A-3F80-87D238A54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7197" y="1889748"/>
            <a:ext cx="875405" cy="625289"/>
          </a:xfrm>
          <a:prstGeom prst="rect">
            <a:avLst/>
          </a:prstGeom>
        </p:spPr>
      </p:pic>
      <p:sp>
        <p:nvSpPr>
          <p:cNvPr id="17" name="Left-right Arrow 16">
            <a:extLst>
              <a:ext uri="{FF2B5EF4-FFF2-40B4-BE49-F238E27FC236}">
                <a16:creationId xmlns:a16="http://schemas.microsoft.com/office/drawing/2014/main" id="{A9C2C79F-AD09-AB92-E6E2-36BD92A90F8E}"/>
              </a:ext>
            </a:extLst>
          </p:cNvPr>
          <p:cNvSpPr/>
          <p:nvPr/>
        </p:nvSpPr>
        <p:spPr>
          <a:xfrm>
            <a:off x="7667232" y="4365374"/>
            <a:ext cx="1475339" cy="57217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41569B3-6497-158E-574C-156C2B44C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989" y="2989099"/>
            <a:ext cx="698570" cy="15449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CCF0E62-3372-C183-1AAD-509B23EAEA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7012" y="4410198"/>
            <a:ext cx="482523" cy="48252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BD825C0-3829-F268-AC45-4460AA65DC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8801" y="3788731"/>
            <a:ext cx="738758" cy="20184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3125EB8-539D-4710-47D3-F6FBAEF8AFCF}"/>
              </a:ext>
            </a:extLst>
          </p:cNvPr>
          <p:cNvSpPr/>
          <p:nvPr/>
        </p:nvSpPr>
        <p:spPr>
          <a:xfrm>
            <a:off x="4864994" y="1639012"/>
            <a:ext cx="1493214" cy="1323439"/>
          </a:xfrm>
          <a:prstGeom prst="rect">
            <a:avLst/>
          </a:prstGeom>
          <a:solidFill>
            <a:srgbClr val="637E3C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H" dirty="0">
                <a:latin typeface="Sora" pitchFamily="2" charset="0"/>
                <a:cs typeface="Sora" pitchFamily="2" charset="0"/>
              </a:rPr>
              <a:t>      ML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AEC872-BFB0-C2E0-DFB9-A92AFAD2B924}"/>
              </a:ext>
            </a:extLst>
          </p:cNvPr>
          <p:cNvSpPr txBox="1"/>
          <p:nvPr/>
        </p:nvSpPr>
        <p:spPr>
          <a:xfrm>
            <a:off x="5573048" y="2060254"/>
            <a:ext cx="12105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9600" dirty="0"/>
              <a:t>💰</a:t>
            </a:r>
          </a:p>
        </p:txBody>
      </p:sp>
    </p:spTree>
    <p:extLst>
      <p:ext uri="{BB962C8B-B14F-4D97-AF65-F5344CB8AC3E}">
        <p14:creationId xmlns:p14="http://schemas.microsoft.com/office/powerpoint/2010/main" val="3199978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F35EE-E54C-AAA8-8B7F-B6D12A81F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3A16ED5-7CDF-931B-84A6-901EA9A95A67}"/>
              </a:ext>
            </a:extLst>
          </p:cNvPr>
          <p:cNvSpPr/>
          <p:nvPr/>
        </p:nvSpPr>
        <p:spPr>
          <a:xfrm>
            <a:off x="8753138" y="1663549"/>
            <a:ext cx="1398488" cy="35308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08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      APIs</a:t>
            </a:r>
          </a:p>
          <a:p>
            <a:pPr algn="ctr"/>
            <a:r>
              <a:rPr lang="en-CH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     &amp;</a:t>
            </a:r>
            <a:br>
              <a:rPr lang="en-CH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</a:br>
            <a:r>
              <a:rPr lang="en-CH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     Data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73A6D68-5C8B-4597-4FDE-CAEAA6C551ED}"/>
              </a:ext>
            </a:extLst>
          </p:cNvPr>
          <p:cNvCxnSpPr>
            <a:cxnSpLocks/>
          </p:cNvCxnSpPr>
          <p:nvPr/>
        </p:nvCxnSpPr>
        <p:spPr>
          <a:xfrm>
            <a:off x="8419652" y="1245196"/>
            <a:ext cx="0" cy="4682268"/>
          </a:xfrm>
          <a:prstGeom prst="line">
            <a:avLst/>
          </a:prstGeom>
          <a:ln w="2540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1857027-5646-F204-B321-B8ACFBED423D}"/>
              </a:ext>
            </a:extLst>
          </p:cNvPr>
          <p:cNvSpPr txBox="1"/>
          <p:nvPr/>
        </p:nvSpPr>
        <p:spPr>
          <a:xfrm>
            <a:off x="5027530" y="5428134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Sora" pitchFamily="2" charset="0"/>
                <a:cs typeface="Sora" pitchFamily="2" charset="0"/>
              </a:rPr>
              <a:t>Solution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07B9E7-CFD1-0232-46A2-6B501DEB1F11}"/>
              </a:ext>
            </a:extLst>
          </p:cNvPr>
          <p:cNvSpPr txBox="1"/>
          <p:nvPr/>
        </p:nvSpPr>
        <p:spPr>
          <a:xfrm>
            <a:off x="8709483" y="5428134"/>
            <a:ext cx="1540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Sora" pitchFamily="2" charset="0"/>
                <a:cs typeface="Sora" pitchFamily="2" charset="0"/>
              </a:rPr>
              <a:t>Foundation</a:t>
            </a:r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84B6C3DD-1DF7-8BCA-D8F9-E059E7D63DA8}"/>
              </a:ext>
            </a:extLst>
          </p:cNvPr>
          <p:cNvSpPr/>
          <p:nvPr/>
        </p:nvSpPr>
        <p:spPr>
          <a:xfrm>
            <a:off x="1369100" y="2695096"/>
            <a:ext cx="1394906" cy="563878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400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Input</a:t>
            </a:r>
            <a:endParaRPr lang="en-CH" dirty="0">
              <a:solidFill>
                <a:schemeClr val="accent2"/>
              </a:solidFill>
              <a:latin typeface="Sora" pitchFamily="2" charset="0"/>
              <a:cs typeface="Sora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97C4B9-3CBA-E018-DAC4-1B51AD38A56C}"/>
              </a:ext>
            </a:extLst>
          </p:cNvPr>
          <p:cNvSpPr txBox="1"/>
          <p:nvPr/>
        </p:nvSpPr>
        <p:spPr>
          <a:xfrm>
            <a:off x="1303140" y="3267269"/>
            <a:ext cx="1534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Sora" pitchFamily="2" charset="0"/>
                <a:cs typeface="Sora" pitchFamily="2" charset="0"/>
              </a:rPr>
              <a:t>Consumers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1DD7F2EF-89A0-AE6F-CFCF-55273A22DF28}"/>
              </a:ext>
            </a:extLst>
          </p:cNvPr>
          <p:cNvSpPr/>
          <p:nvPr/>
        </p:nvSpPr>
        <p:spPr>
          <a:xfrm>
            <a:off x="1343113" y="3645649"/>
            <a:ext cx="1394906" cy="563878"/>
          </a:xfrm>
          <a:prstGeom prst="lef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400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Output</a:t>
            </a:r>
            <a:endParaRPr lang="en-CH" dirty="0">
              <a:solidFill>
                <a:schemeClr val="accent2"/>
              </a:solidFill>
              <a:latin typeface="Sora" pitchFamily="2" charset="0"/>
              <a:cs typeface="Sora" pitchFamily="2" charset="0"/>
            </a:endParaRPr>
          </a:p>
        </p:txBody>
      </p:sp>
      <p:sp>
        <p:nvSpPr>
          <p:cNvPr id="4" name="Left-right Arrow 3">
            <a:extLst>
              <a:ext uri="{FF2B5EF4-FFF2-40B4-BE49-F238E27FC236}">
                <a16:creationId xmlns:a16="http://schemas.microsoft.com/office/drawing/2014/main" id="{F74D880D-C645-A7D3-E192-A70FCE760E3D}"/>
              </a:ext>
            </a:extLst>
          </p:cNvPr>
          <p:cNvSpPr/>
          <p:nvPr/>
        </p:nvSpPr>
        <p:spPr>
          <a:xfrm>
            <a:off x="7667233" y="2773200"/>
            <a:ext cx="1475338" cy="57217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2" name="Left-right Arrow 11">
            <a:extLst>
              <a:ext uri="{FF2B5EF4-FFF2-40B4-BE49-F238E27FC236}">
                <a16:creationId xmlns:a16="http://schemas.microsoft.com/office/drawing/2014/main" id="{31C8DB79-D240-8FE1-6F69-F81EA04068CC}"/>
              </a:ext>
            </a:extLst>
          </p:cNvPr>
          <p:cNvSpPr/>
          <p:nvPr/>
        </p:nvSpPr>
        <p:spPr>
          <a:xfrm>
            <a:off x="7672812" y="3603536"/>
            <a:ext cx="1475339" cy="57217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5" name="Left-right Arrow 14">
            <a:extLst>
              <a:ext uri="{FF2B5EF4-FFF2-40B4-BE49-F238E27FC236}">
                <a16:creationId xmlns:a16="http://schemas.microsoft.com/office/drawing/2014/main" id="{A7F1BB8F-2B11-063D-1C6D-FE1F37DBE0AE}"/>
              </a:ext>
            </a:extLst>
          </p:cNvPr>
          <p:cNvSpPr/>
          <p:nvPr/>
        </p:nvSpPr>
        <p:spPr>
          <a:xfrm>
            <a:off x="7667233" y="1920454"/>
            <a:ext cx="1475338" cy="57217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B5DA73-6716-B91B-DAF0-BD5CAEF6F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7197" y="1889748"/>
            <a:ext cx="875405" cy="625289"/>
          </a:xfrm>
          <a:prstGeom prst="rect">
            <a:avLst/>
          </a:prstGeom>
        </p:spPr>
      </p:pic>
      <p:sp>
        <p:nvSpPr>
          <p:cNvPr id="17" name="Left-right Arrow 16">
            <a:extLst>
              <a:ext uri="{FF2B5EF4-FFF2-40B4-BE49-F238E27FC236}">
                <a16:creationId xmlns:a16="http://schemas.microsoft.com/office/drawing/2014/main" id="{F6326789-7A30-2C01-6CC6-ABC189397337}"/>
              </a:ext>
            </a:extLst>
          </p:cNvPr>
          <p:cNvSpPr/>
          <p:nvPr/>
        </p:nvSpPr>
        <p:spPr>
          <a:xfrm>
            <a:off x="7667232" y="4365374"/>
            <a:ext cx="1475339" cy="57217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1B33115-6333-27AD-C844-8962F2532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989" y="2989099"/>
            <a:ext cx="698570" cy="15449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A012B76-2D46-A05C-34DC-13EF6125A2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7012" y="4410198"/>
            <a:ext cx="482523" cy="48252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07C9757-4A3E-E1FF-5A56-E4D6B152DD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8801" y="3788731"/>
            <a:ext cx="738758" cy="20184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83DB8BD-88B9-6779-9A6E-E35AAED799E0}"/>
              </a:ext>
            </a:extLst>
          </p:cNvPr>
          <p:cNvSpPr/>
          <p:nvPr/>
        </p:nvSpPr>
        <p:spPr>
          <a:xfrm>
            <a:off x="3169920" y="1663548"/>
            <a:ext cx="4098925" cy="3530899"/>
          </a:xfrm>
          <a:prstGeom prst="rect">
            <a:avLst/>
          </a:prstGeom>
          <a:solidFill>
            <a:schemeClr val="tx2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Sora" pitchFamily="2" charset="0"/>
                <a:cs typeface="Sora" pitchFamily="2" charset="0"/>
              </a:rPr>
              <a:t>GenAI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BAF0D8-25F1-DF7A-5253-04E404DC8018}"/>
              </a:ext>
            </a:extLst>
          </p:cNvPr>
          <p:cNvSpPr txBox="1"/>
          <p:nvPr/>
        </p:nvSpPr>
        <p:spPr>
          <a:xfrm>
            <a:off x="5636631" y="3788731"/>
            <a:ext cx="215344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9600" dirty="0"/>
              <a:t>🦄</a:t>
            </a:r>
          </a:p>
        </p:txBody>
      </p:sp>
    </p:spTree>
    <p:extLst>
      <p:ext uri="{BB962C8B-B14F-4D97-AF65-F5344CB8AC3E}">
        <p14:creationId xmlns:p14="http://schemas.microsoft.com/office/powerpoint/2010/main" val="1129169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463E3-B3F4-57F1-B9FC-9DB8D03F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FB168B6-B986-5EA0-5616-D54797B09648}"/>
              </a:ext>
            </a:extLst>
          </p:cNvPr>
          <p:cNvSpPr/>
          <p:nvPr/>
        </p:nvSpPr>
        <p:spPr>
          <a:xfrm>
            <a:off x="8753138" y="1663549"/>
            <a:ext cx="1398488" cy="35308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08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      APIs</a:t>
            </a:r>
          </a:p>
          <a:p>
            <a:pPr algn="ctr"/>
            <a:r>
              <a:rPr lang="en-CH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     &amp;</a:t>
            </a:r>
            <a:br>
              <a:rPr lang="en-CH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</a:br>
            <a:r>
              <a:rPr lang="en-CH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     Data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70D749-0F8F-D4F8-A68D-275A79A8A47D}"/>
              </a:ext>
            </a:extLst>
          </p:cNvPr>
          <p:cNvCxnSpPr>
            <a:cxnSpLocks/>
          </p:cNvCxnSpPr>
          <p:nvPr/>
        </p:nvCxnSpPr>
        <p:spPr>
          <a:xfrm>
            <a:off x="8419652" y="1245196"/>
            <a:ext cx="0" cy="4682268"/>
          </a:xfrm>
          <a:prstGeom prst="line">
            <a:avLst/>
          </a:prstGeom>
          <a:ln w="2540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3050C58-B983-57DA-037C-D801F9102676}"/>
              </a:ext>
            </a:extLst>
          </p:cNvPr>
          <p:cNvSpPr txBox="1"/>
          <p:nvPr/>
        </p:nvSpPr>
        <p:spPr>
          <a:xfrm>
            <a:off x="5027530" y="5428134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Sora" pitchFamily="2" charset="0"/>
                <a:cs typeface="Sora" pitchFamily="2" charset="0"/>
              </a:rPr>
              <a:t>Solution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EF08C2-7ABC-08CF-BB49-6A93DB2B6410}"/>
              </a:ext>
            </a:extLst>
          </p:cNvPr>
          <p:cNvSpPr txBox="1"/>
          <p:nvPr/>
        </p:nvSpPr>
        <p:spPr>
          <a:xfrm>
            <a:off x="8709483" y="5428134"/>
            <a:ext cx="1540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Sora" pitchFamily="2" charset="0"/>
                <a:cs typeface="Sora" pitchFamily="2" charset="0"/>
              </a:rPr>
              <a:t>Foundation</a:t>
            </a:r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091B144D-84AB-21B0-FD35-822697AAEC16}"/>
              </a:ext>
            </a:extLst>
          </p:cNvPr>
          <p:cNvSpPr/>
          <p:nvPr/>
        </p:nvSpPr>
        <p:spPr>
          <a:xfrm>
            <a:off x="1369100" y="2695096"/>
            <a:ext cx="1394906" cy="563878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400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Input</a:t>
            </a:r>
            <a:endParaRPr lang="en-CH" dirty="0">
              <a:solidFill>
                <a:schemeClr val="accent2"/>
              </a:solidFill>
              <a:latin typeface="Sora" pitchFamily="2" charset="0"/>
              <a:cs typeface="Sora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C6740D-28FE-042B-A3DA-F5A0D55F5447}"/>
              </a:ext>
            </a:extLst>
          </p:cNvPr>
          <p:cNvSpPr txBox="1"/>
          <p:nvPr/>
        </p:nvSpPr>
        <p:spPr>
          <a:xfrm>
            <a:off x="1303140" y="3267269"/>
            <a:ext cx="1534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Sora" pitchFamily="2" charset="0"/>
                <a:cs typeface="Sora" pitchFamily="2" charset="0"/>
              </a:rPr>
              <a:t>Consumers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DFA28002-E8B7-F944-B695-BA8F83F30E4F}"/>
              </a:ext>
            </a:extLst>
          </p:cNvPr>
          <p:cNvSpPr/>
          <p:nvPr/>
        </p:nvSpPr>
        <p:spPr>
          <a:xfrm>
            <a:off x="1343113" y="3645649"/>
            <a:ext cx="1394906" cy="563878"/>
          </a:xfrm>
          <a:prstGeom prst="lef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400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Output</a:t>
            </a:r>
            <a:endParaRPr lang="en-CH" dirty="0">
              <a:solidFill>
                <a:schemeClr val="accent2"/>
              </a:solidFill>
              <a:latin typeface="Sora" pitchFamily="2" charset="0"/>
              <a:cs typeface="Sora" pitchFamily="2" charset="0"/>
            </a:endParaRPr>
          </a:p>
        </p:txBody>
      </p:sp>
      <p:sp>
        <p:nvSpPr>
          <p:cNvPr id="4" name="Left-right Arrow 3">
            <a:extLst>
              <a:ext uri="{FF2B5EF4-FFF2-40B4-BE49-F238E27FC236}">
                <a16:creationId xmlns:a16="http://schemas.microsoft.com/office/drawing/2014/main" id="{CD764DF1-94A8-2DCD-FDA1-1D8D417AE408}"/>
              </a:ext>
            </a:extLst>
          </p:cNvPr>
          <p:cNvSpPr/>
          <p:nvPr/>
        </p:nvSpPr>
        <p:spPr>
          <a:xfrm>
            <a:off x="7667233" y="2773200"/>
            <a:ext cx="1475338" cy="57217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2" name="Left-right Arrow 11">
            <a:extLst>
              <a:ext uri="{FF2B5EF4-FFF2-40B4-BE49-F238E27FC236}">
                <a16:creationId xmlns:a16="http://schemas.microsoft.com/office/drawing/2014/main" id="{F755AE3A-D893-23FA-F48E-BE8E5446B3C2}"/>
              </a:ext>
            </a:extLst>
          </p:cNvPr>
          <p:cNvSpPr/>
          <p:nvPr/>
        </p:nvSpPr>
        <p:spPr>
          <a:xfrm>
            <a:off x="7672812" y="3603536"/>
            <a:ext cx="1475339" cy="57217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5" name="Left-right Arrow 14">
            <a:extLst>
              <a:ext uri="{FF2B5EF4-FFF2-40B4-BE49-F238E27FC236}">
                <a16:creationId xmlns:a16="http://schemas.microsoft.com/office/drawing/2014/main" id="{30E25469-AB71-68F1-A6B1-5EEFD32B9388}"/>
              </a:ext>
            </a:extLst>
          </p:cNvPr>
          <p:cNvSpPr/>
          <p:nvPr/>
        </p:nvSpPr>
        <p:spPr>
          <a:xfrm>
            <a:off x="7667233" y="1920454"/>
            <a:ext cx="1475338" cy="57217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BFBDF35-AE5A-7DC3-FAB0-E1FED103F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7197" y="1889748"/>
            <a:ext cx="875405" cy="625289"/>
          </a:xfrm>
          <a:prstGeom prst="rect">
            <a:avLst/>
          </a:prstGeom>
        </p:spPr>
      </p:pic>
      <p:sp>
        <p:nvSpPr>
          <p:cNvPr id="17" name="Left-right Arrow 16">
            <a:extLst>
              <a:ext uri="{FF2B5EF4-FFF2-40B4-BE49-F238E27FC236}">
                <a16:creationId xmlns:a16="http://schemas.microsoft.com/office/drawing/2014/main" id="{DB17D0BD-8A4E-A76E-B69F-43BA904B147E}"/>
              </a:ext>
            </a:extLst>
          </p:cNvPr>
          <p:cNvSpPr/>
          <p:nvPr/>
        </p:nvSpPr>
        <p:spPr>
          <a:xfrm>
            <a:off x="7667232" y="4365374"/>
            <a:ext cx="1475339" cy="57217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98B3228-43B4-7EDE-028C-F74352F29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989" y="2989099"/>
            <a:ext cx="698570" cy="15449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4DFAA33-78AB-5509-4D03-F3A981FEEA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7012" y="4410198"/>
            <a:ext cx="482523" cy="48252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012CA82-8EA8-FACA-5316-BB70BE56C1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8801" y="3788731"/>
            <a:ext cx="738758" cy="20184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D07CDB2-0DB5-8C13-1512-04D16A03593E}"/>
              </a:ext>
            </a:extLst>
          </p:cNvPr>
          <p:cNvSpPr/>
          <p:nvPr/>
        </p:nvSpPr>
        <p:spPr>
          <a:xfrm>
            <a:off x="3169920" y="1663548"/>
            <a:ext cx="4098925" cy="3530899"/>
          </a:xfrm>
          <a:prstGeom prst="rect">
            <a:avLst/>
          </a:prstGeom>
          <a:solidFill>
            <a:schemeClr val="tx2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Sora" pitchFamily="2" charset="0"/>
                <a:cs typeface="Sora" pitchFamily="2" charset="0"/>
              </a:rPr>
              <a:t>GenAI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65D0F7-9297-834D-A971-826963D94850}"/>
              </a:ext>
            </a:extLst>
          </p:cNvPr>
          <p:cNvSpPr/>
          <p:nvPr/>
        </p:nvSpPr>
        <p:spPr>
          <a:xfrm>
            <a:off x="3382913" y="1889748"/>
            <a:ext cx="2135887" cy="527633"/>
          </a:xfrm>
          <a:prstGeom prst="rect">
            <a:avLst/>
          </a:prstGeom>
          <a:solidFill>
            <a:srgbClr val="637E3C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Sora" pitchFamily="2" charset="0"/>
                <a:cs typeface="Sora" pitchFamily="2" charset="0"/>
              </a:rPr>
              <a:t>Prompts</a:t>
            </a:r>
          </a:p>
        </p:txBody>
      </p:sp>
    </p:spTree>
    <p:extLst>
      <p:ext uri="{BB962C8B-B14F-4D97-AF65-F5344CB8AC3E}">
        <p14:creationId xmlns:p14="http://schemas.microsoft.com/office/powerpoint/2010/main" val="4195933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8D1CD7F-FA77-9EF9-E720-0B460E39D1D7}"/>
              </a:ext>
            </a:extLst>
          </p:cNvPr>
          <p:cNvSpPr/>
          <p:nvPr/>
        </p:nvSpPr>
        <p:spPr>
          <a:xfrm>
            <a:off x="3169920" y="1663549"/>
            <a:ext cx="3252971" cy="2392084"/>
          </a:xfrm>
          <a:prstGeom prst="rect">
            <a:avLst/>
          </a:prstGeom>
          <a:solidFill>
            <a:schemeClr val="tx2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Sora" pitchFamily="2" charset="0"/>
                <a:cs typeface="Sora" pitchFamily="2" charset="0"/>
              </a:rPr>
              <a:t>GenAI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0F8C38-B133-4223-C5AF-C1FA16C61E49}"/>
              </a:ext>
            </a:extLst>
          </p:cNvPr>
          <p:cNvSpPr/>
          <p:nvPr/>
        </p:nvSpPr>
        <p:spPr>
          <a:xfrm>
            <a:off x="8753138" y="1663549"/>
            <a:ext cx="1398488" cy="35308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08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      APIs</a:t>
            </a:r>
          </a:p>
          <a:p>
            <a:pPr algn="ctr"/>
            <a:r>
              <a:rPr lang="en-CH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     &amp;</a:t>
            </a:r>
            <a:br>
              <a:rPr lang="en-CH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</a:br>
            <a:r>
              <a:rPr lang="en-CH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     Data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3264089B-B6FD-B9AF-1E8A-5B7981AEA9E0}"/>
              </a:ext>
            </a:extLst>
          </p:cNvPr>
          <p:cNvSpPr/>
          <p:nvPr/>
        </p:nvSpPr>
        <p:spPr>
          <a:xfrm>
            <a:off x="3169920" y="1663549"/>
            <a:ext cx="4908176" cy="3530900"/>
          </a:xfrm>
          <a:custGeom>
            <a:avLst/>
            <a:gdLst>
              <a:gd name="csX0" fmla="*/ 0 w 4908176"/>
              <a:gd name="csY0" fmla="*/ 2222942 h 2222942"/>
              <a:gd name="csX1" fmla="*/ 4908176 w 4908176"/>
              <a:gd name="csY1" fmla="*/ 2222942 h 2222942"/>
              <a:gd name="csX2" fmla="*/ 4908176 w 4908176"/>
              <a:gd name="csY2" fmla="*/ 4178 h 2222942"/>
              <a:gd name="csX3" fmla="*/ 3348726 w 4908176"/>
              <a:gd name="csY3" fmla="*/ 4178 h 2222942"/>
              <a:gd name="csX4" fmla="*/ 2315793 w 4908176"/>
              <a:gd name="csY4" fmla="*/ 0 h 2222942"/>
              <a:gd name="csX5" fmla="*/ 2312726 w 4908176"/>
              <a:gd name="csY5" fmla="*/ 893815 h 2222942"/>
              <a:gd name="csX6" fmla="*/ 2312726 w 4908176"/>
              <a:gd name="csY6" fmla="*/ 1568520 h 2222942"/>
              <a:gd name="csX7" fmla="*/ 0 w 4908176"/>
              <a:gd name="csY7" fmla="*/ 1568520 h 2222942"/>
              <a:gd name="csX8" fmla="*/ 0 w 4908176"/>
              <a:gd name="csY8" fmla="*/ 2222942 h 2222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908176" h="3530900">
                <a:moveTo>
                  <a:pt x="0" y="3530900"/>
                </a:moveTo>
                <a:lnTo>
                  <a:pt x="4908176" y="3530900"/>
                </a:lnTo>
                <a:lnTo>
                  <a:pt x="4908176" y="0"/>
                </a:lnTo>
                <a:lnTo>
                  <a:pt x="3379971" y="0"/>
                </a:lnTo>
                <a:lnTo>
                  <a:pt x="3379971" y="2519084"/>
                </a:lnTo>
                <a:lnTo>
                  <a:pt x="0" y="2519084"/>
                </a:lnTo>
                <a:close/>
              </a:path>
            </a:pathLst>
          </a:custGeom>
          <a:solidFill>
            <a:schemeClr val="accent1"/>
          </a:solidFill>
          <a:ln w="508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CH" dirty="0"/>
            </a:br>
            <a:br>
              <a:rPr lang="en-CH" dirty="0"/>
            </a:br>
            <a:br>
              <a:rPr lang="en-CH" dirty="0"/>
            </a:br>
            <a:br>
              <a:rPr lang="en-CH" dirty="0"/>
            </a:br>
            <a:br>
              <a:rPr lang="en-CH" dirty="0"/>
            </a:br>
            <a:endParaRPr lang="en-CH" dirty="0"/>
          </a:p>
          <a:p>
            <a:pPr algn="ctr"/>
            <a:endParaRPr lang="en-CH" dirty="0">
              <a:latin typeface="Sora" pitchFamily="2" charset="0"/>
              <a:cs typeface="Sora" pitchFamily="2" charset="0"/>
            </a:endParaRPr>
          </a:p>
          <a:p>
            <a:pPr algn="ctr"/>
            <a:endParaRPr lang="en-CH" dirty="0">
              <a:latin typeface="Sora" pitchFamily="2" charset="0"/>
              <a:cs typeface="Sora" pitchFamily="2" charset="0"/>
            </a:endParaRPr>
          </a:p>
          <a:p>
            <a:pPr algn="ctr"/>
            <a:endParaRPr lang="en-CH" dirty="0">
              <a:latin typeface="Sora" pitchFamily="2" charset="0"/>
              <a:cs typeface="Sora" pitchFamily="2" charset="0"/>
            </a:endParaRPr>
          </a:p>
          <a:p>
            <a:pPr algn="ctr"/>
            <a:endParaRPr lang="en-CH" dirty="0">
              <a:latin typeface="Sora" pitchFamily="2" charset="0"/>
              <a:cs typeface="Sora" pitchFamily="2" charset="0"/>
            </a:endParaRPr>
          </a:p>
          <a:p>
            <a:pPr algn="ctr"/>
            <a:r>
              <a:rPr lang="en-CH" dirty="0">
                <a:latin typeface="Sora" pitchFamily="2" charset="0"/>
                <a:cs typeface="Sora" pitchFamily="2" charset="0"/>
              </a:rPr>
              <a:t>Deterministic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888C7D1-B3A9-1099-6C25-0BD32B84F0F0}"/>
              </a:ext>
            </a:extLst>
          </p:cNvPr>
          <p:cNvCxnSpPr>
            <a:cxnSpLocks/>
          </p:cNvCxnSpPr>
          <p:nvPr/>
        </p:nvCxnSpPr>
        <p:spPr>
          <a:xfrm>
            <a:off x="8419652" y="1245196"/>
            <a:ext cx="0" cy="4682268"/>
          </a:xfrm>
          <a:prstGeom prst="line">
            <a:avLst/>
          </a:prstGeom>
          <a:ln w="2540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7A62D65-2885-43E9-B5FE-0471D9A3E0B7}"/>
              </a:ext>
            </a:extLst>
          </p:cNvPr>
          <p:cNvSpPr txBox="1"/>
          <p:nvPr/>
        </p:nvSpPr>
        <p:spPr>
          <a:xfrm>
            <a:off x="5027530" y="5428134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Sora" pitchFamily="2" charset="0"/>
                <a:cs typeface="Sora" pitchFamily="2" charset="0"/>
              </a:rPr>
              <a:t>Solution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7EBE18-2738-7524-8444-64A9242E593A}"/>
              </a:ext>
            </a:extLst>
          </p:cNvPr>
          <p:cNvSpPr txBox="1"/>
          <p:nvPr/>
        </p:nvSpPr>
        <p:spPr>
          <a:xfrm>
            <a:off x="8709483" y="5428134"/>
            <a:ext cx="1540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Sora" pitchFamily="2" charset="0"/>
                <a:cs typeface="Sora" pitchFamily="2" charset="0"/>
              </a:rPr>
              <a:t>Foundation</a:t>
            </a:r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817701AA-53FA-4E9F-CB8C-82CE3572CDB1}"/>
              </a:ext>
            </a:extLst>
          </p:cNvPr>
          <p:cNvSpPr/>
          <p:nvPr/>
        </p:nvSpPr>
        <p:spPr>
          <a:xfrm>
            <a:off x="1369100" y="2695096"/>
            <a:ext cx="1394906" cy="563878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400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Input</a:t>
            </a:r>
            <a:endParaRPr lang="en-CH" dirty="0">
              <a:solidFill>
                <a:schemeClr val="accent2"/>
              </a:solidFill>
              <a:latin typeface="Sora" pitchFamily="2" charset="0"/>
              <a:cs typeface="Sora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649E55-C73D-63A6-7AE8-320F7F3ABF8F}"/>
              </a:ext>
            </a:extLst>
          </p:cNvPr>
          <p:cNvSpPr txBox="1"/>
          <p:nvPr/>
        </p:nvSpPr>
        <p:spPr>
          <a:xfrm>
            <a:off x="1303140" y="3267269"/>
            <a:ext cx="1534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Sora" pitchFamily="2" charset="0"/>
                <a:cs typeface="Sora" pitchFamily="2" charset="0"/>
              </a:rPr>
              <a:t>Consumers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78E7CA08-658A-6CAC-7FB2-8A1AFC5974A8}"/>
              </a:ext>
            </a:extLst>
          </p:cNvPr>
          <p:cNvSpPr/>
          <p:nvPr/>
        </p:nvSpPr>
        <p:spPr>
          <a:xfrm>
            <a:off x="1343113" y="3645649"/>
            <a:ext cx="1394906" cy="563878"/>
          </a:xfrm>
          <a:prstGeom prst="lef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400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Output</a:t>
            </a:r>
            <a:endParaRPr lang="en-CH" dirty="0">
              <a:solidFill>
                <a:schemeClr val="accent2"/>
              </a:solidFill>
              <a:latin typeface="Sora" pitchFamily="2" charset="0"/>
              <a:cs typeface="Sora" pitchFamily="2" charset="0"/>
            </a:endParaRPr>
          </a:p>
        </p:txBody>
      </p:sp>
      <p:sp>
        <p:nvSpPr>
          <p:cNvPr id="4" name="Left-right Arrow 3">
            <a:extLst>
              <a:ext uri="{FF2B5EF4-FFF2-40B4-BE49-F238E27FC236}">
                <a16:creationId xmlns:a16="http://schemas.microsoft.com/office/drawing/2014/main" id="{CA5F44A0-0904-4F8C-7EB7-6D73106A7F21}"/>
              </a:ext>
            </a:extLst>
          </p:cNvPr>
          <p:cNvSpPr/>
          <p:nvPr/>
        </p:nvSpPr>
        <p:spPr>
          <a:xfrm>
            <a:off x="7667233" y="2773200"/>
            <a:ext cx="1475338" cy="57217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2" name="Left-right Arrow 11">
            <a:extLst>
              <a:ext uri="{FF2B5EF4-FFF2-40B4-BE49-F238E27FC236}">
                <a16:creationId xmlns:a16="http://schemas.microsoft.com/office/drawing/2014/main" id="{731D59B0-E530-A602-CD14-66512CA0CE7E}"/>
              </a:ext>
            </a:extLst>
          </p:cNvPr>
          <p:cNvSpPr/>
          <p:nvPr/>
        </p:nvSpPr>
        <p:spPr>
          <a:xfrm>
            <a:off x="7672812" y="3603536"/>
            <a:ext cx="1475339" cy="57217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5" name="Left-right Arrow 14">
            <a:extLst>
              <a:ext uri="{FF2B5EF4-FFF2-40B4-BE49-F238E27FC236}">
                <a16:creationId xmlns:a16="http://schemas.microsoft.com/office/drawing/2014/main" id="{D4297A0C-BB42-5E9D-E23E-3DC9EE0AA045}"/>
              </a:ext>
            </a:extLst>
          </p:cNvPr>
          <p:cNvSpPr/>
          <p:nvPr/>
        </p:nvSpPr>
        <p:spPr>
          <a:xfrm>
            <a:off x="7667233" y="1920454"/>
            <a:ext cx="1475338" cy="57217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97B0DCA-FCBE-73FD-A340-1ABB42F0E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7197" y="1889748"/>
            <a:ext cx="875405" cy="625289"/>
          </a:xfrm>
          <a:prstGeom prst="rect">
            <a:avLst/>
          </a:prstGeom>
        </p:spPr>
      </p:pic>
      <p:sp>
        <p:nvSpPr>
          <p:cNvPr id="17" name="Left-right Arrow 16">
            <a:extLst>
              <a:ext uri="{FF2B5EF4-FFF2-40B4-BE49-F238E27FC236}">
                <a16:creationId xmlns:a16="http://schemas.microsoft.com/office/drawing/2014/main" id="{3ABF72DE-AFEA-3FAC-1914-B5B3C800DE58}"/>
              </a:ext>
            </a:extLst>
          </p:cNvPr>
          <p:cNvSpPr/>
          <p:nvPr/>
        </p:nvSpPr>
        <p:spPr>
          <a:xfrm>
            <a:off x="7667232" y="4365374"/>
            <a:ext cx="1475339" cy="57217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8B98FEC-1CD8-CC58-B1BD-DDA63D312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989" y="2989099"/>
            <a:ext cx="698570" cy="15449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BB0962E-7F1D-5E6A-E70D-1EA0B48725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7012" y="4410198"/>
            <a:ext cx="482523" cy="48252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661E29F-2024-0A1D-E4EC-3BA4CBA64B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8801" y="3788731"/>
            <a:ext cx="738758" cy="201847"/>
          </a:xfrm>
          <a:prstGeom prst="rect">
            <a:avLst/>
          </a:prstGeom>
        </p:spPr>
      </p:pic>
      <p:sp>
        <p:nvSpPr>
          <p:cNvPr id="22" name="Left-right Arrow 21">
            <a:extLst>
              <a:ext uri="{FF2B5EF4-FFF2-40B4-BE49-F238E27FC236}">
                <a16:creationId xmlns:a16="http://schemas.microsoft.com/office/drawing/2014/main" id="{1731C8E1-593A-D549-EC72-CEB3B3A4AD0E}"/>
              </a:ext>
            </a:extLst>
          </p:cNvPr>
          <p:cNvSpPr/>
          <p:nvPr/>
        </p:nvSpPr>
        <p:spPr>
          <a:xfrm>
            <a:off x="5735031" y="1889748"/>
            <a:ext cx="1475338" cy="57217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900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Function Calling</a:t>
            </a:r>
          </a:p>
        </p:txBody>
      </p:sp>
    </p:spTree>
    <p:extLst>
      <p:ext uri="{BB962C8B-B14F-4D97-AF65-F5344CB8AC3E}">
        <p14:creationId xmlns:p14="http://schemas.microsoft.com/office/powerpoint/2010/main" val="2795878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D8092-6BD1-A5C6-C86B-E15666EBE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D7F14C5-FDA1-F239-ABAA-BBD2F9A22723}"/>
              </a:ext>
            </a:extLst>
          </p:cNvPr>
          <p:cNvSpPr/>
          <p:nvPr/>
        </p:nvSpPr>
        <p:spPr>
          <a:xfrm>
            <a:off x="3171019" y="1663549"/>
            <a:ext cx="2220322" cy="2392084"/>
          </a:xfrm>
          <a:prstGeom prst="rect">
            <a:avLst/>
          </a:prstGeom>
          <a:solidFill>
            <a:schemeClr val="tx2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Sora" pitchFamily="2" charset="0"/>
                <a:cs typeface="Sora" pitchFamily="2" charset="0"/>
              </a:rPr>
              <a:t>GenAI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A2C2C1-C451-C4FC-A80A-8CFCAF1C9F78}"/>
              </a:ext>
            </a:extLst>
          </p:cNvPr>
          <p:cNvSpPr/>
          <p:nvPr/>
        </p:nvSpPr>
        <p:spPr>
          <a:xfrm>
            <a:off x="8753138" y="1663549"/>
            <a:ext cx="1398488" cy="35308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08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      APIs</a:t>
            </a:r>
          </a:p>
          <a:p>
            <a:pPr algn="ctr"/>
            <a:r>
              <a:rPr lang="en-CH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     &amp;</a:t>
            </a:r>
            <a:br>
              <a:rPr lang="en-CH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</a:br>
            <a:r>
              <a:rPr lang="en-CH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     Data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B4F692F-848B-403D-9641-86D44B1FCA6A}"/>
              </a:ext>
            </a:extLst>
          </p:cNvPr>
          <p:cNvSpPr/>
          <p:nvPr/>
        </p:nvSpPr>
        <p:spPr>
          <a:xfrm>
            <a:off x="3169920" y="1663549"/>
            <a:ext cx="4908176" cy="3530900"/>
          </a:xfrm>
          <a:custGeom>
            <a:avLst/>
            <a:gdLst>
              <a:gd name="csX0" fmla="*/ 0 w 4908176"/>
              <a:gd name="csY0" fmla="*/ 2218764 h 2218764"/>
              <a:gd name="csX1" fmla="*/ 4908176 w 4908176"/>
              <a:gd name="csY1" fmla="*/ 2218764 h 2218764"/>
              <a:gd name="csX2" fmla="*/ 4908176 w 4908176"/>
              <a:gd name="csY2" fmla="*/ 0 h 2218764"/>
              <a:gd name="csX3" fmla="*/ 3348726 w 4908176"/>
              <a:gd name="csY3" fmla="*/ 0 h 2218764"/>
              <a:gd name="csX4" fmla="*/ 3348726 w 4908176"/>
              <a:gd name="csY4" fmla="*/ 889637 h 2218764"/>
              <a:gd name="csX5" fmla="*/ 3347586 w 4908176"/>
              <a:gd name="csY5" fmla="*/ 1560572 h 2218764"/>
              <a:gd name="csX6" fmla="*/ 2312726 w 4908176"/>
              <a:gd name="csY6" fmla="*/ 1564342 h 2218764"/>
              <a:gd name="csX7" fmla="*/ 0 w 4908176"/>
              <a:gd name="csY7" fmla="*/ 1564342 h 2218764"/>
              <a:gd name="csX8" fmla="*/ 0 w 4908176"/>
              <a:gd name="csY8" fmla="*/ 2218764 h 22187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908176" h="3530900">
                <a:moveTo>
                  <a:pt x="0" y="3530900"/>
                </a:moveTo>
                <a:lnTo>
                  <a:pt x="4908176" y="3530900"/>
                </a:lnTo>
                <a:lnTo>
                  <a:pt x="4908176" y="0"/>
                </a:lnTo>
                <a:lnTo>
                  <a:pt x="3348726" y="0"/>
                </a:lnTo>
                <a:lnTo>
                  <a:pt x="3348726" y="2487839"/>
                </a:lnTo>
                <a:lnTo>
                  <a:pt x="0" y="2487839"/>
                </a:lnTo>
                <a:close/>
              </a:path>
            </a:pathLst>
          </a:custGeom>
          <a:solidFill>
            <a:schemeClr val="accent1"/>
          </a:solidFill>
          <a:ln w="508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CH" dirty="0"/>
            </a:br>
            <a:br>
              <a:rPr lang="en-CH" dirty="0"/>
            </a:br>
            <a:br>
              <a:rPr lang="en-CH" dirty="0"/>
            </a:br>
            <a:br>
              <a:rPr lang="en-CH" dirty="0"/>
            </a:br>
            <a:br>
              <a:rPr lang="en-CH" dirty="0"/>
            </a:br>
            <a:endParaRPr lang="en-CH" dirty="0"/>
          </a:p>
          <a:p>
            <a:pPr algn="ctr"/>
            <a:endParaRPr lang="en-CH" dirty="0">
              <a:latin typeface="Sora" pitchFamily="2" charset="0"/>
              <a:cs typeface="Sora" pitchFamily="2" charset="0"/>
            </a:endParaRPr>
          </a:p>
          <a:p>
            <a:pPr algn="ctr"/>
            <a:endParaRPr lang="en-CH" dirty="0">
              <a:latin typeface="Sora" pitchFamily="2" charset="0"/>
              <a:cs typeface="Sora" pitchFamily="2" charset="0"/>
            </a:endParaRPr>
          </a:p>
          <a:p>
            <a:pPr algn="ctr"/>
            <a:endParaRPr lang="en-CH" dirty="0">
              <a:latin typeface="Sora" pitchFamily="2" charset="0"/>
              <a:cs typeface="Sora" pitchFamily="2" charset="0"/>
            </a:endParaRPr>
          </a:p>
          <a:p>
            <a:pPr algn="ctr"/>
            <a:r>
              <a:rPr lang="en-CH" dirty="0">
                <a:latin typeface="Sora" pitchFamily="2" charset="0"/>
                <a:cs typeface="Sora" pitchFamily="2" charset="0"/>
              </a:rPr>
              <a:t>Deterministic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C0B9339-800E-B2FB-7267-B2900A51C869}"/>
              </a:ext>
            </a:extLst>
          </p:cNvPr>
          <p:cNvCxnSpPr>
            <a:cxnSpLocks/>
          </p:cNvCxnSpPr>
          <p:nvPr/>
        </p:nvCxnSpPr>
        <p:spPr>
          <a:xfrm>
            <a:off x="8419652" y="1245196"/>
            <a:ext cx="0" cy="4682268"/>
          </a:xfrm>
          <a:prstGeom prst="line">
            <a:avLst/>
          </a:prstGeom>
          <a:ln w="2540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2B4ECF9-9C28-1604-75E4-F76D35A6FBE8}"/>
              </a:ext>
            </a:extLst>
          </p:cNvPr>
          <p:cNvSpPr txBox="1"/>
          <p:nvPr/>
        </p:nvSpPr>
        <p:spPr>
          <a:xfrm>
            <a:off x="5027530" y="5428134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Sora" pitchFamily="2" charset="0"/>
                <a:cs typeface="Sora" pitchFamily="2" charset="0"/>
              </a:rPr>
              <a:t>Solution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336511-2269-C4A6-8FE6-07611CE67ED7}"/>
              </a:ext>
            </a:extLst>
          </p:cNvPr>
          <p:cNvSpPr txBox="1"/>
          <p:nvPr/>
        </p:nvSpPr>
        <p:spPr>
          <a:xfrm>
            <a:off x="8709483" y="5428134"/>
            <a:ext cx="1540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Sora" pitchFamily="2" charset="0"/>
                <a:cs typeface="Sora" pitchFamily="2" charset="0"/>
              </a:rPr>
              <a:t>Foundation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403EC7F-AAC5-8944-9C7D-B0F4EA3BDF6F}"/>
              </a:ext>
            </a:extLst>
          </p:cNvPr>
          <p:cNvSpPr/>
          <p:nvPr/>
        </p:nvSpPr>
        <p:spPr>
          <a:xfrm>
            <a:off x="5484597" y="1663549"/>
            <a:ext cx="938294" cy="521821"/>
          </a:xfrm>
          <a:prstGeom prst="rect">
            <a:avLst/>
          </a:prstGeom>
          <a:solidFill>
            <a:srgbClr val="637E3C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Sora" pitchFamily="2" charset="0"/>
                <a:cs typeface="Sora" pitchFamily="2" charset="0"/>
              </a:rPr>
              <a:t>GenAI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E5B0074-0C66-1D1B-93E0-BD33B0429D09}"/>
              </a:ext>
            </a:extLst>
          </p:cNvPr>
          <p:cNvSpPr/>
          <p:nvPr/>
        </p:nvSpPr>
        <p:spPr>
          <a:xfrm>
            <a:off x="5484597" y="2286970"/>
            <a:ext cx="938294" cy="521821"/>
          </a:xfrm>
          <a:prstGeom prst="rect">
            <a:avLst/>
          </a:prstGeom>
          <a:solidFill>
            <a:srgbClr val="637E3C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Sora" pitchFamily="2" charset="0"/>
                <a:cs typeface="Sora" pitchFamily="2" charset="0"/>
              </a:rPr>
              <a:t>GenAI</a:t>
            </a:r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FE47B49E-BBE9-F93C-628C-C1AB7CF7C8F9}"/>
              </a:ext>
            </a:extLst>
          </p:cNvPr>
          <p:cNvSpPr/>
          <p:nvPr/>
        </p:nvSpPr>
        <p:spPr>
          <a:xfrm>
            <a:off x="1369100" y="2695096"/>
            <a:ext cx="1394906" cy="563878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400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Input</a:t>
            </a:r>
            <a:endParaRPr lang="en-CH" dirty="0">
              <a:solidFill>
                <a:schemeClr val="accent2"/>
              </a:solidFill>
              <a:latin typeface="Sora" pitchFamily="2" charset="0"/>
              <a:cs typeface="Sora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CDEEB3-7B5A-3BC0-08A3-F2674C8701AA}"/>
              </a:ext>
            </a:extLst>
          </p:cNvPr>
          <p:cNvSpPr txBox="1"/>
          <p:nvPr/>
        </p:nvSpPr>
        <p:spPr>
          <a:xfrm>
            <a:off x="1303140" y="3267269"/>
            <a:ext cx="1534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Sora" pitchFamily="2" charset="0"/>
                <a:cs typeface="Sora" pitchFamily="2" charset="0"/>
              </a:rPr>
              <a:t>Consumers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ABC3D52B-9628-64F0-BC5D-608C5BFB4FF1}"/>
              </a:ext>
            </a:extLst>
          </p:cNvPr>
          <p:cNvSpPr/>
          <p:nvPr/>
        </p:nvSpPr>
        <p:spPr>
          <a:xfrm>
            <a:off x="1343113" y="3645649"/>
            <a:ext cx="1394906" cy="563878"/>
          </a:xfrm>
          <a:prstGeom prst="lef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400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Output</a:t>
            </a:r>
            <a:endParaRPr lang="en-CH" dirty="0">
              <a:solidFill>
                <a:schemeClr val="accent2"/>
              </a:solidFill>
              <a:latin typeface="Sora" pitchFamily="2" charset="0"/>
              <a:cs typeface="Sora" pitchFamily="2" charset="0"/>
            </a:endParaRPr>
          </a:p>
        </p:txBody>
      </p:sp>
      <p:sp>
        <p:nvSpPr>
          <p:cNvPr id="4" name="Left-right Arrow 3">
            <a:extLst>
              <a:ext uri="{FF2B5EF4-FFF2-40B4-BE49-F238E27FC236}">
                <a16:creationId xmlns:a16="http://schemas.microsoft.com/office/drawing/2014/main" id="{7C05D856-D801-3FBD-15C0-412927062042}"/>
              </a:ext>
            </a:extLst>
          </p:cNvPr>
          <p:cNvSpPr/>
          <p:nvPr/>
        </p:nvSpPr>
        <p:spPr>
          <a:xfrm>
            <a:off x="7667233" y="2773200"/>
            <a:ext cx="1475338" cy="57217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2" name="Left-right Arrow 11">
            <a:extLst>
              <a:ext uri="{FF2B5EF4-FFF2-40B4-BE49-F238E27FC236}">
                <a16:creationId xmlns:a16="http://schemas.microsoft.com/office/drawing/2014/main" id="{3C12A45D-99DE-22D2-C7C0-CDEE484A8FF9}"/>
              </a:ext>
            </a:extLst>
          </p:cNvPr>
          <p:cNvSpPr/>
          <p:nvPr/>
        </p:nvSpPr>
        <p:spPr>
          <a:xfrm>
            <a:off x="7672812" y="3603536"/>
            <a:ext cx="1475339" cy="57217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5" name="Left-right Arrow 14">
            <a:extLst>
              <a:ext uri="{FF2B5EF4-FFF2-40B4-BE49-F238E27FC236}">
                <a16:creationId xmlns:a16="http://schemas.microsoft.com/office/drawing/2014/main" id="{553B197B-0477-1B1C-250F-ABDF9A6DCFF3}"/>
              </a:ext>
            </a:extLst>
          </p:cNvPr>
          <p:cNvSpPr/>
          <p:nvPr/>
        </p:nvSpPr>
        <p:spPr>
          <a:xfrm>
            <a:off x="7667233" y="1920454"/>
            <a:ext cx="1475338" cy="57217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BCEA0B4-7C12-239C-62DF-3862A800B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7197" y="1889748"/>
            <a:ext cx="875405" cy="625289"/>
          </a:xfrm>
          <a:prstGeom prst="rect">
            <a:avLst/>
          </a:prstGeom>
        </p:spPr>
      </p:pic>
      <p:sp>
        <p:nvSpPr>
          <p:cNvPr id="17" name="Left-right Arrow 16">
            <a:extLst>
              <a:ext uri="{FF2B5EF4-FFF2-40B4-BE49-F238E27FC236}">
                <a16:creationId xmlns:a16="http://schemas.microsoft.com/office/drawing/2014/main" id="{880B4054-C7C3-AE8A-3B3A-AA761F0CEB17}"/>
              </a:ext>
            </a:extLst>
          </p:cNvPr>
          <p:cNvSpPr/>
          <p:nvPr/>
        </p:nvSpPr>
        <p:spPr>
          <a:xfrm>
            <a:off x="7667232" y="4365374"/>
            <a:ext cx="1475339" cy="57217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CE5FF16-D025-398C-FFA9-F3A7ADED6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989" y="2989099"/>
            <a:ext cx="698570" cy="15449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49283CD-35AA-7446-72C1-B67920869D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7012" y="4410198"/>
            <a:ext cx="482523" cy="48252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81F5E70-B0DF-361D-4B1F-FFB7AF4AAE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8801" y="3788731"/>
            <a:ext cx="738758" cy="20184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29B0963-3D12-A2F6-311B-20584F6F6643}"/>
              </a:ext>
            </a:extLst>
          </p:cNvPr>
          <p:cNvSpPr/>
          <p:nvPr/>
        </p:nvSpPr>
        <p:spPr>
          <a:xfrm>
            <a:off x="5484597" y="3533812"/>
            <a:ext cx="938294" cy="521821"/>
          </a:xfrm>
          <a:prstGeom prst="rect">
            <a:avLst/>
          </a:prstGeom>
          <a:solidFill>
            <a:srgbClr val="637E3C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Sora" pitchFamily="2" charset="0"/>
                <a:cs typeface="Sora" pitchFamily="2" charset="0"/>
              </a:rPr>
              <a:t>GenAI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B1CE09-FD00-4436-536F-A40C13FF7AAD}"/>
              </a:ext>
            </a:extLst>
          </p:cNvPr>
          <p:cNvSpPr/>
          <p:nvPr/>
        </p:nvSpPr>
        <p:spPr>
          <a:xfrm>
            <a:off x="5484597" y="2910391"/>
            <a:ext cx="938294" cy="521821"/>
          </a:xfrm>
          <a:prstGeom prst="rect">
            <a:avLst/>
          </a:prstGeom>
          <a:solidFill>
            <a:srgbClr val="637E3C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Sora" pitchFamily="2" charset="0"/>
                <a:cs typeface="Sora" pitchFamily="2" charset="0"/>
              </a:rPr>
              <a:t>GenAI</a:t>
            </a:r>
          </a:p>
        </p:txBody>
      </p:sp>
    </p:spTree>
    <p:extLst>
      <p:ext uri="{BB962C8B-B14F-4D97-AF65-F5344CB8AC3E}">
        <p14:creationId xmlns:p14="http://schemas.microsoft.com/office/powerpoint/2010/main" val="2289248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C0C7B-3D4C-4A81-88B2-21A67D18B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D42EBA-3A36-C077-A178-30ECC2553D5E}"/>
              </a:ext>
            </a:extLst>
          </p:cNvPr>
          <p:cNvSpPr/>
          <p:nvPr/>
        </p:nvSpPr>
        <p:spPr>
          <a:xfrm>
            <a:off x="3169920" y="1663549"/>
            <a:ext cx="3252971" cy="2392084"/>
          </a:xfrm>
          <a:prstGeom prst="rect">
            <a:avLst/>
          </a:prstGeom>
          <a:solidFill>
            <a:schemeClr val="tx2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Sora" pitchFamily="2" charset="0"/>
                <a:cs typeface="Sora" pitchFamily="2" charset="0"/>
              </a:rPr>
              <a:t>GenAI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66FDE8-6D6C-959F-E621-9FEBD5ADA6BA}"/>
              </a:ext>
            </a:extLst>
          </p:cNvPr>
          <p:cNvSpPr/>
          <p:nvPr/>
        </p:nvSpPr>
        <p:spPr>
          <a:xfrm>
            <a:off x="8753138" y="1663549"/>
            <a:ext cx="1398488" cy="35308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08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      APIs</a:t>
            </a:r>
          </a:p>
          <a:p>
            <a:pPr algn="ctr"/>
            <a:r>
              <a:rPr lang="en-CH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     &amp;</a:t>
            </a:r>
            <a:br>
              <a:rPr lang="en-CH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</a:br>
            <a:r>
              <a:rPr lang="en-CH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     Data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3C1CE304-FE95-1502-A2C6-BCD998125FC6}"/>
              </a:ext>
            </a:extLst>
          </p:cNvPr>
          <p:cNvSpPr/>
          <p:nvPr/>
        </p:nvSpPr>
        <p:spPr>
          <a:xfrm>
            <a:off x="3169920" y="2694450"/>
            <a:ext cx="4908176" cy="2499999"/>
          </a:xfrm>
          <a:custGeom>
            <a:avLst/>
            <a:gdLst>
              <a:gd name="csX0" fmla="*/ 0 w 4908176"/>
              <a:gd name="csY0" fmla="*/ 2699627 h 2699627"/>
              <a:gd name="csX1" fmla="*/ 4908176 w 4908176"/>
              <a:gd name="csY1" fmla="*/ 2699627 h 2699627"/>
              <a:gd name="csX2" fmla="*/ 4908176 w 4908176"/>
              <a:gd name="csY2" fmla="*/ 0 h 2699627"/>
              <a:gd name="csX3" fmla="*/ 3407681 w 4908176"/>
              <a:gd name="csY3" fmla="*/ 13854 h 2699627"/>
              <a:gd name="csX4" fmla="*/ 3379971 w 4908176"/>
              <a:gd name="csY4" fmla="*/ 1687811 h 2699627"/>
              <a:gd name="csX5" fmla="*/ 0 w 4908176"/>
              <a:gd name="csY5" fmla="*/ 1687811 h 2699627"/>
              <a:gd name="csX6" fmla="*/ 0 w 4908176"/>
              <a:gd name="csY6" fmla="*/ 2699627 h 26996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908176" h="2499999">
                <a:moveTo>
                  <a:pt x="0" y="2499999"/>
                </a:moveTo>
                <a:lnTo>
                  <a:pt x="4908176" y="2499999"/>
                </a:lnTo>
                <a:lnTo>
                  <a:pt x="4908176" y="0"/>
                </a:lnTo>
                <a:lnTo>
                  <a:pt x="3379971" y="0"/>
                </a:lnTo>
                <a:lnTo>
                  <a:pt x="3379971" y="1488183"/>
                </a:lnTo>
                <a:lnTo>
                  <a:pt x="0" y="1488183"/>
                </a:lnTo>
                <a:close/>
              </a:path>
            </a:pathLst>
          </a:custGeom>
          <a:solidFill>
            <a:schemeClr val="accent1"/>
          </a:solidFill>
          <a:ln w="508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CH" dirty="0"/>
            </a:br>
            <a:br>
              <a:rPr lang="en-CH" dirty="0"/>
            </a:br>
            <a:br>
              <a:rPr lang="en-CH" dirty="0"/>
            </a:br>
            <a:br>
              <a:rPr lang="en-CH" dirty="0"/>
            </a:br>
            <a:br>
              <a:rPr lang="en-CH" dirty="0"/>
            </a:br>
            <a:endParaRPr lang="en-CH" dirty="0"/>
          </a:p>
          <a:p>
            <a:pPr algn="ctr"/>
            <a:r>
              <a:rPr lang="en-CH" dirty="0">
                <a:latin typeface="Sora" pitchFamily="2" charset="0"/>
                <a:cs typeface="Sora" pitchFamily="2" charset="0"/>
              </a:rPr>
              <a:t>Deterministic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C1ABF8-3F65-093E-B197-103EDF570F7F}"/>
              </a:ext>
            </a:extLst>
          </p:cNvPr>
          <p:cNvCxnSpPr>
            <a:cxnSpLocks/>
          </p:cNvCxnSpPr>
          <p:nvPr/>
        </p:nvCxnSpPr>
        <p:spPr>
          <a:xfrm>
            <a:off x="8419652" y="1245196"/>
            <a:ext cx="0" cy="4682268"/>
          </a:xfrm>
          <a:prstGeom prst="line">
            <a:avLst/>
          </a:prstGeom>
          <a:ln w="2540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7403FA8-B9DE-E875-CC73-2B20822F1190}"/>
              </a:ext>
            </a:extLst>
          </p:cNvPr>
          <p:cNvSpPr txBox="1"/>
          <p:nvPr/>
        </p:nvSpPr>
        <p:spPr>
          <a:xfrm>
            <a:off x="5027530" y="5428134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Sora" pitchFamily="2" charset="0"/>
                <a:cs typeface="Sora" pitchFamily="2" charset="0"/>
              </a:rPr>
              <a:t>Solution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6E6235-A8D4-B8D1-8D9E-B5C7A10A43D7}"/>
              </a:ext>
            </a:extLst>
          </p:cNvPr>
          <p:cNvSpPr txBox="1"/>
          <p:nvPr/>
        </p:nvSpPr>
        <p:spPr>
          <a:xfrm>
            <a:off x="8709483" y="5428134"/>
            <a:ext cx="1540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Sora" pitchFamily="2" charset="0"/>
                <a:cs typeface="Sora" pitchFamily="2" charset="0"/>
              </a:rPr>
              <a:t>Foundation</a:t>
            </a:r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B8ED3412-7C0A-F0B3-C996-3914712AB6A1}"/>
              </a:ext>
            </a:extLst>
          </p:cNvPr>
          <p:cNvSpPr/>
          <p:nvPr/>
        </p:nvSpPr>
        <p:spPr>
          <a:xfrm>
            <a:off x="1369100" y="2695096"/>
            <a:ext cx="1394906" cy="563878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400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Input</a:t>
            </a:r>
            <a:endParaRPr lang="en-CH" dirty="0">
              <a:solidFill>
                <a:schemeClr val="accent2"/>
              </a:solidFill>
              <a:latin typeface="Sora" pitchFamily="2" charset="0"/>
              <a:cs typeface="Sora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A5EE44-23E2-65E1-12F1-99311E749AE2}"/>
              </a:ext>
            </a:extLst>
          </p:cNvPr>
          <p:cNvSpPr txBox="1"/>
          <p:nvPr/>
        </p:nvSpPr>
        <p:spPr>
          <a:xfrm>
            <a:off x="1303140" y="3267269"/>
            <a:ext cx="1534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Sora" pitchFamily="2" charset="0"/>
                <a:cs typeface="Sora" pitchFamily="2" charset="0"/>
              </a:rPr>
              <a:t>Consumers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23D23993-EDF2-8DE0-FB10-29A4CEEC4BD1}"/>
              </a:ext>
            </a:extLst>
          </p:cNvPr>
          <p:cNvSpPr/>
          <p:nvPr/>
        </p:nvSpPr>
        <p:spPr>
          <a:xfrm>
            <a:off x="1343113" y="3645649"/>
            <a:ext cx="1394906" cy="563878"/>
          </a:xfrm>
          <a:prstGeom prst="lef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400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Output</a:t>
            </a:r>
            <a:endParaRPr lang="en-CH" dirty="0">
              <a:solidFill>
                <a:schemeClr val="accent2"/>
              </a:solidFill>
              <a:latin typeface="Sora" pitchFamily="2" charset="0"/>
              <a:cs typeface="Sora" pitchFamily="2" charset="0"/>
            </a:endParaRPr>
          </a:p>
        </p:txBody>
      </p:sp>
      <p:sp>
        <p:nvSpPr>
          <p:cNvPr id="4" name="Left-right Arrow 3">
            <a:extLst>
              <a:ext uri="{FF2B5EF4-FFF2-40B4-BE49-F238E27FC236}">
                <a16:creationId xmlns:a16="http://schemas.microsoft.com/office/drawing/2014/main" id="{12EDB779-1935-20CA-C5B7-93757FEB7020}"/>
              </a:ext>
            </a:extLst>
          </p:cNvPr>
          <p:cNvSpPr/>
          <p:nvPr/>
        </p:nvSpPr>
        <p:spPr>
          <a:xfrm>
            <a:off x="7667233" y="3407721"/>
            <a:ext cx="1475338" cy="486347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2" name="Left-right Arrow 11">
            <a:extLst>
              <a:ext uri="{FF2B5EF4-FFF2-40B4-BE49-F238E27FC236}">
                <a16:creationId xmlns:a16="http://schemas.microsoft.com/office/drawing/2014/main" id="{0BB11EA3-BF38-15B9-0039-AD658BFC0178}"/>
              </a:ext>
            </a:extLst>
          </p:cNvPr>
          <p:cNvSpPr/>
          <p:nvPr/>
        </p:nvSpPr>
        <p:spPr>
          <a:xfrm>
            <a:off x="7667233" y="3994831"/>
            <a:ext cx="1475339" cy="486347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5" name="Left-right Arrow 14">
            <a:extLst>
              <a:ext uri="{FF2B5EF4-FFF2-40B4-BE49-F238E27FC236}">
                <a16:creationId xmlns:a16="http://schemas.microsoft.com/office/drawing/2014/main" id="{B3034869-7C20-0B62-C431-0915B027AB6C}"/>
              </a:ext>
            </a:extLst>
          </p:cNvPr>
          <p:cNvSpPr/>
          <p:nvPr/>
        </p:nvSpPr>
        <p:spPr>
          <a:xfrm>
            <a:off x="7667233" y="2820612"/>
            <a:ext cx="1475338" cy="486347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31CAFBE-9CA1-CE07-CA49-03EAA0BCF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7197" y="2746993"/>
            <a:ext cx="875405" cy="625289"/>
          </a:xfrm>
          <a:prstGeom prst="rect">
            <a:avLst/>
          </a:prstGeom>
        </p:spPr>
      </p:pic>
      <p:sp>
        <p:nvSpPr>
          <p:cNvPr id="17" name="Left-right Arrow 16">
            <a:extLst>
              <a:ext uri="{FF2B5EF4-FFF2-40B4-BE49-F238E27FC236}">
                <a16:creationId xmlns:a16="http://schemas.microsoft.com/office/drawing/2014/main" id="{01C5E0EE-1EC4-8F56-8BCB-C1883337797D}"/>
              </a:ext>
            </a:extLst>
          </p:cNvPr>
          <p:cNvSpPr/>
          <p:nvPr/>
        </p:nvSpPr>
        <p:spPr>
          <a:xfrm>
            <a:off x="7667233" y="4581940"/>
            <a:ext cx="1475339" cy="486347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A7CE27B-C196-B4DB-336A-EC7819C00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989" y="3580707"/>
            <a:ext cx="698570" cy="15449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A4D1D55-AC7B-CC9E-837A-41C9156B7B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7013" y="4583851"/>
            <a:ext cx="482523" cy="48252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67468A6-BFDB-0D25-5A19-C1822A91C1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3222" y="4137113"/>
            <a:ext cx="738758" cy="201847"/>
          </a:xfrm>
          <a:prstGeom prst="rect">
            <a:avLst/>
          </a:prstGeom>
        </p:spPr>
      </p:pic>
      <p:sp>
        <p:nvSpPr>
          <p:cNvPr id="22" name="Left-right Arrow 21">
            <a:extLst>
              <a:ext uri="{FF2B5EF4-FFF2-40B4-BE49-F238E27FC236}">
                <a16:creationId xmlns:a16="http://schemas.microsoft.com/office/drawing/2014/main" id="{D1A0B776-4178-644F-42F6-AA312CEB1120}"/>
              </a:ext>
            </a:extLst>
          </p:cNvPr>
          <p:cNvSpPr/>
          <p:nvPr/>
        </p:nvSpPr>
        <p:spPr>
          <a:xfrm>
            <a:off x="5888182" y="1783283"/>
            <a:ext cx="3385701" cy="860367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900" dirty="0">
              <a:solidFill>
                <a:schemeClr val="accent2"/>
              </a:solidFill>
              <a:latin typeface="Sora" pitchFamily="2" charset="0"/>
              <a:cs typeface="Sora" pitchFamily="2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13B9BF5-9256-396D-B56D-3F301B8BE0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9357" y="2025731"/>
            <a:ext cx="2480992" cy="36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119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E2FE1-41E4-D2A5-8B3F-3F9491523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D406A83-73B8-AA55-2F62-BCE16E2225E9}"/>
              </a:ext>
            </a:extLst>
          </p:cNvPr>
          <p:cNvSpPr/>
          <p:nvPr/>
        </p:nvSpPr>
        <p:spPr>
          <a:xfrm>
            <a:off x="3169920" y="1663549"/>
            <a:ext cx="3252971" cy="2392084"/>
          </a:xfrm>
          <a:prstGeom prst="rect">
            <a:avLst/>
          </a:prstGeom>
          <a:solidFill>
            <a:schemeClr val="tx2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Sora" pitchFamily="2" charset="0"/>
                <a:cs typeface="Sora" pitchFamily="2" charset="0"/>
              </a:rPr>
              <a:t>GenAI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9A77CA-14ED-1655-E48B-2F4DE6035405}"/>
              </a:ext>
            </a:extLst>
          </p:cNvPr>
          <p:cNvSpPr/>
          <p:nvPr/>
        </p:nvSpPr>
        <p:spPr>
          <a:xfrm>
            <a:off x="8753138" y="1663549"/>
            <a:ext cx="1398488" cy="35308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08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      </a:t>
            </a:r>
          </a:p>
          <a:p>
            <a:pPr algn="ctr"/>
            <a:endParaRPr lang="en-CH" dirty="0">
              <a:solidFill>
                <a:schemeClr val="accent2"/>
              </a:solidFill>
              <a:latin typeface="Sora" pitchFamily="2" charset="0"/>
              <a:cs typeface="Sora" pitchFamily="2" charset="0"/>
            </a:endParaRPr>
          </a:p>
          <a:p>
            <a:pPr algn="ctr"/>
            <a:endParaRPr lang="en-CH" dirty="0">
              <a:solidFill>
                <a:schemeClr val="accent2"/>
              </a:solidFill>
              <a:latin typeface="Sora" pitchFamily="2" charset="0"/>
              <a:cs typeface="Sora" pitchFamily="2" charset="0"/>
            </a:endParaRPr>
          </a:p>
          <a:p>
            <a:pPr algn="ctr"/>
            <a:endParaRPr lang="en-CH" dirty="0">
              <a:solidFill>
                <a:schemeClr val="accent2"/>
              </a:solidFill>
              <a:latin typeface="Sora" pitchFamily="2" charset="0"/>
              <a:cs typeface="Sora" pitchFamily="2" charset="0"/>
            </a:endParaRPr>
          </a:p>
          <a:p>
            <a:pPr algn="ctr"/>
            <a:endParaRPr lang="en-CH" dirty="0">
              <a:solidFill>
                <a:schemeClr val="accent2"/>
              </a:solidFill>
              <a:latin typeface="Sora" pitchFamily="2" charset="0"/>
              <a:cs typeface="Sora" pitchFamily="2" charset="0"/>
            </a:endParaRPr>
          </a:p>
          <a:p>
            <a:pPr algn="ctr"/>
            <a:endParaRPr lang="en-CH" dirty="0">
              <a:solidFill>
                <a:schemeClr val="accent2"/>
              </a:solidFill>
              <a:latin typeface="Sora" pitchFamily="2" charset="0"/>
              <a:cs typeface="Sora" pitchFamily="2" charset="0"/>
            </a:endParaRPr>
          </a:p>
          <a:p>
            <a:pPr algn="ctr"/>
            <a:endParaRPr lang="en-CH" dirty="0">
              <a:solidFill>
                <a:schemeClr val="accent2"/>
              </a:solidFill>
              <a:latin typeface="Sora" pitchFamily="2" charset="0"/>
              <a:cs typeface="Sora" pitchFamily="2" charset="0"/>
            </a:endParaRPr>
          </a:p>
          <a:p>
            <a:pPr algn="ctr"/>
            <a:r>
              <a:rPr lang="en-CH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     APIs</a:t>
            </a:r>
          </a:p>
          <a:p>
            <a:pPr algn="ctr"/>
            <a:r>
              <a:rPr lang="en-CH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     &amp;</a:t>
            </a:r>
          </a:p>
          <a:p>
            <a:pPr algn="ctr"/>
            <a:r>
              <a:rPr lang="en-CH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     Data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9753C49-6A29-71E2-484B-E3F208C193FF}"/>
              </a:ext>
            </a:extLst>
          </p:cNvPr>
          <p:cNvSpPr/>
          <p:nvPr/>
        </p:nvSpPr>
        <p:spPr>
          <a:xfrm>
            <a:off x="3169920" y="2694450"/>
            <a:ext cx="4908176" cy="2499999"/>
          </a:xfrm>
          <a:custGeom>
            <a:avLst/>
            <a:gdLst>
              <a:gd name="csX0" fmla="*/ 0 w 4908176"/>
              <a:gd name="csY0" fmla="*/ 2699627 h 2699627"/>
              <a:gd name="csX1" fmla="*/ 4908176 w 4908176"/>
              <a:gd name="csY1" fmla="*/ 2699627 h 2699627"/>
              <a:gd name="csX2" fmla="*/ 4908176 w 4908176"/>
              <a:gd name="csY2" fmla="*/ 0 h 2699627"/>
              <a:gd name="csX3" fmla="*/ 3407681 w 4908176"/>
              <a:gd name="csY3" fmla="*/ 13854 h 2699627"/>
              <a:gd name="csX4" fmla="*/ 3379971 w 4908176"/>
              <a:gd name="csY4" fmla="*/ 1687811 h 2699627"/>
              <a:gd name="csX5" fmla="*/ 0 w 4908176"/>
              <a:gd name="csY5" fmla="*/ 1687811 h 2699627"/>
              <a:gd name="csX6" fmla="*/ 0 w 4908176"/>
              <a:gd name="csY6" fmla="*/ 2699627 h 26996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908176" h="2499999">
                <a:moveTo>
                  <a:pt x="0" y="2499999"/>
                </a:moveTo>
                <a:lnTo>
                  <a:pt x="4908176" y="2499999"/>
                </a:lnTo>
                <a:lnTo>
                  <a:pt x="4908176" y="0"/>
                </a:lnTo>
                <a:lnTo>
                  <a:pt x="3379971" y="0"/>
                </a:lnTo>
                <a:lnTo>
                  <a:pt x="3379971" y="1488183"/>
                </a:lnTo>
                <a:lnTo>
                  <a:pt x="0" y="1488183"/>
                </a:lnTo>
                <a:close/>
              </a:path>
            </a:pathLst>
          </a:custGeom>
          <a:solidFill>
            <a:schemeClr val="accent1"/>
          </a:solidFill>
          <a:ln w="508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CH" dirty="0"/>
            </a:br>
            <a:br>
              <a:rPr lang="en-CH" dirty="0"/>
            </a:br>
            <a:br>
              <a:rPr lang="en-CH" dirty="0"/>
            </a:br>
            <a:br>
              <a:rPr lang="en-CH" dirty="0"/>
            </a:br>
            <a:br>
              <a:rPr lang="en-CH" dirty="0"/>
            </a:br>
            <a:endParaRPr lang="en-CH" dirty="0"/>
          </a:p>
          <a:p>
            <a:pPr algn="ctr"/>
            <a:r>
              <a:rPr lang="en-CH" dirty="0">
                <a:latin typeface="Sora" pitchFamily="2" charset="0"/>
                <a:cs typeface="Sora" pitchFamily="2" charset="0"/>
              </a:rPr>
              <a:t>Deterministic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A744F4B-6B9B-1B6A-43EC-DE7679FA2E68}"/>
              </a:ext>
            </a:extLst>
          </p:cNvPr>
          <p:cNvCxnSpPr>
            <a:cxnSpLocks/>
          </p:cNvCxnSpPr>
          <p:nvPr/>
        </p:nvCxnSpPr>
        <p:spPr>
          <a:xfrm>
            <a:off x="8419652" y="1245196"/>
            <a:ext cx="0" cy="4682268"/>
          </a:xfrm>
          <a:prstGeom prst="line">
            <a:avLst/>
          </a:prstGeom>
          <a:ln w="2540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379D0F3-0A75-C1A4-0313-0907C4A263AA}"/>
              </a:ext>
            </a:extLst>
          </p:cNvPr>
          <p:cNvSpPr txBox="1"/>
          <p:nvPr/>
        </p:nvSpPr>
        <p:spPr>
          <a:xfrm>
            <a:off x="5027530" y="5428134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Sora" pitchFamily="2" charset="0"/>
                <a:cs typeface="Sora" pitchFamily="2" charset="0"/>
              </a:rPr>
              <a:t>Solution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DFDE80-5E47-33CF-0B19-877F096AB18F}"/>
              </a:ext>
            </a:extLst>
          </p:cNvPr>
          <p:cNvSpPr txBox="1"/>
          <p:nvPr/>
        </p:nvSpPr>
        <p:spPr>
          <a:xfrm>
            <a:off x="8709483" y="5428134"/>
            <a:ext cx="1540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Sora" pitchFamily="2" charset="0"/>
                <a:cs typeface="Sora" pitchFamily="2" charset="0"/>
              </a:rPr>
              <a:t>Foundation</a:t>
            </a:r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283A90C0-275F-89FC-9ABE-708D75487479}"/>
              </a:ext>
            </a:extLst>
          </p:cNvPr>
          <p:cNvSpPr/>
          <p:nvPr/>
        </p:nvSpPr>
        <p:spPr>
          <a:xfrm>
            <a:off x="1369100" y="2695096"/>
            <a:ext cx="1394906" cy="563878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400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Input</a:t>
            </a:r>
            <a:endParaRPr lang="en-CH" dirty="0">
              <a:solidFill>
                <a:schemeClr val="accent2"/>
              </a:solidFill>
              <a:latin typeface="Sora" pitchFamily="2" charset="0"/>
              <a:cs typeface="Sora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EEAB50-0E5E-F99A-507B-A70C8460DC69}"/>
              </a:ext>
            </a:extLst>
          </p:cNvPr>
          <p:cNvSpPr txBox="1"/>
          <p:nvPr/>
        </p:nvSpPr>
        <p:spPr>
          <a:xfrm>
            <a:off x="1303140" y="3267269"/>
            <a:ext cx="1534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Sora" pitchFamily="2" charset="0"/>
                <a:cs typeface="Sora" pitchFamily="2" charset="0"/>
              </a:rPr>
              <a:t>Consumers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B598521A-BCCA-3FFC-5F64-1ADF32C343C6}"/>
              </a:ext>
            </a:extLst>
          </p:cNvPr>
          <p:cNvSpPr/>
          <p:nvPr/>
        </p:nvSpPr>
        <p:spPr>
          <a:xfrm>
            <a:off x="1343113" y="3645649"/>
            <a:ext cx="1394906" cy="563878"/>
          </a:xfrm>
          <a:prstGeom prst="lef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400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Output</a:t>
            </a:r>
            <a:endParaRPr lang="en-CH" dirty="0">
              <a:solidFill>
                <a:schemeClr val="accent2"/>
              </a:solidFill>
              <a:latin typeface="Sora" pitchFamily="2" charset="0"/>
              <a:cs typeface="Sora" pitchFamily="2" charset="0"/>
            </a:endParaRPr>
          </a:p>
        </p:txBody>
      </p:sp>
      <p:sp>
        <p:nvSpPr>
          <p:cNvPr id="22" name="Left-right Arrow 21">
            <a:extLst>
              <a:ext uri="{FF2B5EF4-FFF2-40B4-BE49-F238E27FC236}">
                <a16:creationId xmlns:a16="http://schemas.microsoft.com/office/drawing/2014/main" id="{CD842C6A-169F-6DBF-EACD-514A2D02DE5C}"/>
              </a:ext>
            </a:extLst>
          </p:cNvPr>
          <p:cNvSpPr/>
          <p:nvPr/>
        </p:nvSpPr>
        <p:spPr>
          <a:xfrm>
            <a:off x="5888182" y="1783283"/>
            <a:ext cx="3385701" cy="860367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900" dirty="0">
              <a:solidFill>
                <a:schemeClr val="accent2"/>
              </a:solidFill>
              <a:latin typeface="Sora" pitchFamily="2" charset="0"/>
              <a:cs typeface="Sora" pitchFamily="2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0772963-5C06-BDD8-72F7-14381E271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9357" y="2025731"/>
            <a:ext cx="2480992" cy="361141"/>
          </a:xfrm>
          <a:prstGeom prst="rect">
            <a:avLst/>
          </a:prstGeom>
        </p:spPr>
      </p:pic>
      <p:sp>
        <p:nvSpPr>
          <p:cNvPr id="18" name="Left-right Arrow 17">
            <a:extLst>
              <a:ext uri="{FF2B5EF4-FFF2-40B4-BE49-F238E27FC236}">
                <a16:creationId xmlns:a16="http://schemas.microsoft.com/office/drawing/2014/main" id="{3B721C45-27EE-E6EE-790E-1DB1DEAC24E1}"/>
              </a:ext>
            </a:extLst>
          </p:cNvPr>
          <p:cNvSpPr/>
          <p:nvPr/>
        </p:nvSpPr>
        <p:spPr>
          <a:xfrm>
            <a:off x="5486412" y="2780124"/>
            <a:ext cx="3787472" cy="860367"/>
          </a:xfrm>
          <a:prstGeom prst="leftRightArrow">
            <a:avLst/>
          </a:prstGeom>
          <a:solidFill>
            <a:srgbClr val="637E3C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400" dirty="0">
                <a:solidFill>
                  <a:schemeClr val="bg1"/>
                </a:solidFill>
                <a:latin typeface="Sora" pitchFamily="2" charset="0"/>
                <a:cs typeface="Sora" pitchFamily="2" charset="0"/>
              </a:rPr>
              <a:t>Agent Skills</a:t>
            </a:r>
          </a:p>
        </p:txBody>
      </p:sp>
      <p:sp>
        <p:nvSpPr>
          <p:cNvPr id="4" name="Left-right Arrow 3">
            <a:extLst>
              <a:ext uri="{FF2B5EF4-FFF2-40B4-BE49-F238E27FC236}">
                <a16:creationId xmlns:a16="http://schemas.microsoft.com/office/drawing/2014/main" id="{7281F9E8-C790-6481-4352-2C43471D5EF5}"/>
              </a:ext>
            </a:extLst>
          </p:cNvPr>
          <p:cNvSpPr/>
          <p:nvPr/>
        </p:nvSpPr>
        <p:spPr>
          <a:xfrm>
            <a:off x="7667233" y="4109470"/>
            <a:ext cx="1475338" cy="57217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1050" dirty="0">
              <a:latin typeface="Sora" pitchFamily="2" charset="0"/>
              <a:cs typeface="Sora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8CA4F1-9DF6-8593-C55C-1454051F9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1172" y="4082911"/>
            <a:ext cx="875405" cy="62528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152DB1A-7111-036F-087B-BFC3D6F5351A}"/>
              </a:ext>
            </a:extLst>
          </p:cNvPr>
          <p:cNvSpPr txBox="1"/>
          <p:nvPr/>
        </p:nvSpPr>
        <p:spPr>
          <a:xfrm>
            <a:off x="8550181" y="4296190"/>
            <a:ext cx="4619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900" dirty="0">
                <a:solidFill>
                  <a:srgbClr val="424143"/>
                </a:solidFill>
                <a:latin typeface="Sora" pitchFamily="2" charset="0"/>
                <a:cs typeface="Sora" pitchFamily="2" charset="0"/>
              </a:rPr>
              <a:t>&amp; Co</a:t>
            </a:r>
          </a:p>
        </p:txBody>
      </p:sp>
    </p:spTree>
    <p:extLst>
      <p:ext uri="{BB962C8B-B14F-4D97-AF65-F5344CB8AC3E}">
        <p14:creationId xmlns:p14="http://schemas.microsoft.com/office/powerpoint/2010/main" val="673015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0E499-4AA2-C894-4B37-ECFFA6B44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ED1046D-CF30-B9DB-6020-C9AFC8D02E37}"/>
              </a:ext>
            </a:extLst>
          </p:cNvPr>
          <p:cNvSpPr/>
          <p:nvPr/>
        </p:nvSpPr>
        <p:spPr>
          <a:xfrm>
            <a:off x="3169920" y="1663549"/>
            <a:ext cx="1053803" cy="2392084"/>
          </a:xfrm>
          <a:prstGeom prst="rect">
            <a:avLst/>
          </a:prstGeom>
          <a:solidFill>
            <a:schemeClr val="tx2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Sora" pitchFamily="2" charset="0"/>
                <a:cs typeface="Sora" pitchFamily="2" charset="0"/>
              </a:rPr>
              <a:t>GenAI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5A818C-2068-7764-2CAA-3D7F4B1F8078}"/>
              </a:ext>
            </a:extLst>
          </p:cNvPr>
          <p:cNvSpPr/>
          <p:nvPr/>
        </p:nvSpPr>
        <p:spPr>
          <a:xfrm>
            <a:off x="8753138" y="1663549"/>
            <a:ext cx="1398488" cy="35308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08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      APIs</a:t>
            </a:r>
          </a:p>
          <a:p>
            <a:pPr algn="ctr"/>
            <a:r>
              <a:rPr lang="en-CH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     &amp;</a:t>
            </a:r>
            <a:br>
              <a:rPr lang="en-CH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</a:br>
            <a:r>
              <a:rPr lang="en-CH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     Data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136A544-FC31-275F-B232-752FB4E95327}"/>
              </a:ext>
            </a:extLst>
          </p:cNvPr>
          <p:cNvSpPr/>
          <p:nvPr/>
        </p:nvSpPr>
        <p:spPr>
          <a:xfrm>
            <a:off x="3169920" y="1663550"/>
            <a:ext cx="4908176" cy="3530899"/>
          </a:xfrm>
          <a:custGeom>
            <a:avLst/>
            <a:gdLst>
              <a:gd name="csX0" fmla="*/ 0 w 4908176"/>
              <a:gd name="csY0" fmla="*/ 2218764 h 2218764"/>
              <a:gd name="csX1" fmla="*/ 4908176 w 4908176"/>
              <a:gd name="csY1" fmla="*/ 2218764 h 2218764"/>
              <a:gd name="csX2" fmla="*/ 4908176 w 4908176"/>
              <a:gd name="csY2" fmla="*/ 1143000 h 2218764"/>
              <a:gd name="csX3" fmla="*/ 4908176 w 4908176"/>
              <a:gd name="csY3" fmla="*/ 0 h 2218764"/>
              <a:gd name="csX4" fmla="*/ 4625788 w 4908176"/>
              <a:gd name="csY4" fmla="*/ 0 h 2218764"/>
              <a:gd name="csX5" fmla="*/ 3348726 w 4908176"/>
              <a:gd name="csY5" fmla="*/ 2287 h 2218764"/>
              <a:gd name="csX6" fmla="*/ 3348317 w 4908176"/>
              <a:gd name="csY6" fmla="*/ 889637 h 2218764"/>
              <a:gd name="csX7" fmla="*/ 2312726 w 4908176"/>
              <a:gd name="csY7" fmla="*/ 888573 h 2218764"/>
              <a:gd name="csX8" fmla="*/ 2310252 w 4908176"/>
              <a:gd name="csY8" fmla="*/ 1562401 h 2218764"/>
              <a:gd name="csX9" fmla="*/ 1 w 4908176"/>
              <a:gd name="csY9" fmla="*/ 1564342 h 2218764"/>
              <a:gd name="csX10" fmla="*/ 0 w 4908176"/>
              <a:gd name="csY10" fmla="*/ 2218764 h 22187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908176" h="2218764">
                <a:moveTo>
                  <a:pt x="0" y="2218764"/>
                </a:moveTo>
                <a:lnTo>
                  <a:pt x="4908176" y="2218764"/>
                </a:lnTo>
                <a:lnTo>
                  <a:pt x="4908176" y="0"/>
                </a:lnTo>
                <a:lnTo>
                  <a:pt x="3348726" y="0"/>
                </a:lnTo>
                <a:lnTo>
                  <a:pt x="3348726" y="889637"/>
                </a:lnTo>
                <a:lnTo>
                  <a:pt x="2312726" y="889637"/>
                </a:lnTo>
                <a:lnTo>
                  <a:pt x="2312726" y="1564342"/>
                </a:lnTo>
                <a:lnTo>
                  <a:pt x="0" y="1564342"/>
                </a:lnTo>
                <a:close/>
              </a:path>
            </a:pathLst>
          </a:custGeom>
          <a:solidFill>
            <a:schemeClr val="accent1"/>
          </a:solidFill>
          <a:ln w="508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CH" dirty="0"/>
            </a:br>
            <a:br>
              <a:rPr lang="en-CH" dirty="0"/>
            </a:br>
            <a:br>
              <a:rPr lang="en-CH" dirty="0"/>
            </a:br>
            <a:br>
              <a:rPr lang="en-CH" dirty="0"/>
            </a:br>
            <a:br>
              <a:rPr lang="en-CH" dirty="0"/>
            </a:br>
            <a:endParaRPr lang="en-CH" dirty="0"/>
          </a:p>
          <a:p>
            <a:pPr algn="ctr"/>
            <a:endParaRPr lang="en-CH" dirty="0">
              <a:latin typeface="Sora" pitchFamily="2" charset="0"/>
              <a:cs typeface="Sora" pitchFamily="2" charset="0"/>
            </a:endParaRPr>
          </a:p>
          <a:p>
            <a:pPr algn="ctr"/>
            <a:endParaRPr lang="en-CH" dirty="0">
              <a:latin typeface="Sora" pitchFamily="2" charset="0"/>
              <a:cs typeface="Sora" pitchFamily="2" charset="0"/>
            </a:endParaRPr>
          </a:p>
          <a:p>
            <a:pPr algn="ctr"/>
            <a:endParaRPr lang="en-CH" dirty="0">
              <a:latin typeface="Sora" pitchFamily="2" charset="0"/>
              <a:cs typeface="Sora" pitchFamily="2" charset="0"/>
            </a:endParaRPr>
          </a:p>
          <a:p>
            <a:pPr algn="ctr"/>
            <a:endParaRPr lang="en-CH" dirty="0">
              <a:latin typeface="Sora" pitchFamily="2" charset="0"/>
              <a:cs typeface="Sora" pitchFamily="2" charset="0"/>
            </a:endParaRPr>
          </a:p>
          <a:p>
            <a:pPr algn="ctr"/>
            <a:r>
              <a:rPr lang="en-CH" dirty="0">
                <a:latin typeface="Sora" pitchFamily="2" charset="0"/>
                <a:cs typeface="Sora" pitchFamily="2" charset="0"/>
              </a:rPr>
              <a:t>Deterministic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3D84169-9C05-41C7-B155-14C758AAB4F7}"/>
              </a:ext>
            </a:extLst>
          </p:cNvPr>
          <p:cNvCxnSpPr>
            <a:cxnSpLocks/>
          </p:cNvCxnSpPr>
          <p:nvPr/>
        </p:nvCxnSpPr>
        <p:spPr>
          <a:xfrm>
            <a:off x="8419652" y="1245196"/>
            <a:ext cx="0" cy="4682268"/>
          </a:xfrm>
          <a:prstGeom prst="line">
            <a:avLst/>
          </a:prstGeom>
          <a:ln w="2540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BE80355-82AE-5168-042D-43FF260D90A3}"/>
              </a:ext>
            </a:extLst>
          </p:cNvPr>
          <p:cNvSpPr txBox="1"/>
          <p:nvPr/>
        </p:nvSpPr>
        <p:spPr>
          <a:xfrm>
            <a:off x="5027530" y="5428134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Sora" pitchFamily="2" charset="0"/>
                <a:cs typeface="Sora" pitchFamily="2" charset="0"/>
              </a:rPr>
              <a:t>Solution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B3D618-2AA8-D0C7-CC3E-D729BA21D2F2}"/>
              </a:ext>
            </a:extLst>
          </p:cNvPr>
          <p:cNvSpPr txBox="1"/>
          <p:nvPr/>
        </p:nvSpPr>
        <p:spPr>
          <a:xfrm>
            <a:off x="8709483" y="5428134"/>
            <a:ext cx="1540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Sora" pitchFamily="2" charset="0"/>
                <a:cs typeface="Sora" pitchFamily="2" charset="0"/>
              </a:rPr>
              <a:t>Foundation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B00B3A5-2B5C-0977-0FE6-A2C2484B9D3D}"/>
              </a:ext>
            </a:extLst>
          </p:cNvPr>
          <p:cNvSpPr/>
          <p:nvPr/>
        </p:nvSpPr>
        <p:spPr>
          <a:xfrm>
            <a:off x="4327258" y="1663548"/>
            <a:ext cx="1053803" cy="2854663"/>
          </a:xfrm>
          <a:prstGeom prst="rect">
            <a:avLst/>
          </a:prstGeom>
          <a:solidFill>
            <a:srgbClr val="637E3C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Sora" pitchFamily="2" charset="0"/>
                <a:cs typeface="Sora" pitchFamily="2" charset="0"/>
              </a:rPr>
              <a:t>RLCD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9E672FF-4DFA-023A-9C47-FF100859CC16}"/>
              </a:ext>
            </a:extLst>
          </p:cNvPr>
          <p:cNvSpPr/>
          <p:nvPr/>
        </p:nvSpPr>
        <p:spPr>
          <a:xfrm>
            <a:off x="5484597" y="1663549"/>
            <a:ext cx="938294" cy="609751"/>
          </a:xfrm>
          <a:prstGeom prst="rect">
            <a:avLst/>
          </a:prstGeom>
          <a:solidFill>
            <a:schemeClr val="tx2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Sora" pitchFamily="2" charset="0"/>
                <a:cs typeface="Sora" pitchFamily="2" charset="0"/>
              </a:rPr>
              <a:t>GenAI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28CA121-37B9-B32B-2852-CF7627658AA4}"/>
              </a:ext>
            </a:extLst>
          </p:cNvPr>
          <p:cNvSpPr/>
          <p:nvPr/>
        </p:nvSpPr>
        <p:spPr>
          <a:xfrm>
            <a:off x="5484597" y="2367284"/>
            <a:ext cx="938294" cy="609751"/>
          </a:xfrm>
          <a:prstGeom prst="rect">
            <a:avLst/>
          </a:prstGeom>
          <a:solidFill>
            <a:schemeClr val="tx2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Sora" pitchFamily="2" charset="0"/>
                <a:cs typeface="Sora" pitchFamily="2" charset="0"/>
              </a:rPr>
              <a:t>GenAI</a:t>
            </a:r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01999E0B-7D0A-17EB-2E98-101F0ACC4E9D}"/>
              </a:ext>
            </a:extLst>
          </p:cNvPr>
          <p:cNvSpPr/>
          <p:nvPr/>
        </p:nvSpPr>
        <p:spPr>
          <a:xfrm>
            <a:off x="1369100" y="2695096"/>
            <a:ext cx="1394906" cy="563878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400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Input</a:t>
            </a:r>
            <a:endParaRPr lang="en-CH" dirty="0">
              <a:solidFill>
                <a:schemeClr val="accent2"/>
              </a:solidFill>
              <a:latin typeface="Sora" pitchFamily="2" charset="0"/>
              <a:cs typeface="Sora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DD6934-6CC3-3789-8D95-F0E150CA467A}"/>
              </a:ext>
            </a:extLst>
          </p:cNvPr>
          <p:cNvSpPr txBox="1"/>
          <p:nvPr/>
        </p:nvSpPr>
        <p:spPr>
          <a:xfrm>
            <a:off x="1303140" y="3267269"/>
            <a:ext cx="1534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Sora" pitchFamily="2" charset="0"/>
                <a:cs typeface="Sora" pitchFamily="2" charset="0"/>
              </a:rPr>
              <a:t>Consumers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2DC7C6AA-660B-315A-13C6-DB58FE16CE6B}"/>
              </a:ext>
            </a:extLst>
          </p:cNvPr>
          <p:cNvSpPr/>
          <p:nvPr/>
        </p:nvSpPr>
        <p:spPr>
          <a:xfrm>
            <a:off x="1343113" y="3645649"/>
            <a:ext cx="1394906" cy="563878"/>
          </a:xfrm>
          <a:prstGeom prst="lef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400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Output</a:t>
            </a:r>
            <a:endParaRPr lang="en-CH" dirty="0">
              <a:solidFill>
                <a:schemeClr val="accent2"/>
              </a:solidFill>
              <a:latin typeface="Sora" pitchFamily="2" charset="0"/>
              <a:cs typeface="Sora" pitchFamily="2" charset="0"/>
            </a:endParaRPr>
          </a:p>
        </p:txBody>
      </p:sp>
      <p:sp>
        <p:nvSpPr>
          <p:cNvPr id="4" name="Left-right Arrow 3">
            <a:extLst>
              <a:ext uri="{FF2B5EF4-FFF2-40B4-BE49-F238E27FC236}">
                <a16:creationId xmlns:a16="http://schemas.microsoft.com/office/drawing/2014/main" id="{FE868A33-34DF-D274-6DC5-03EA475023C3}"/>
              </a:ext>
            </a:extLst>
          </p:cNvPr>
          <p:cNvSpPr/>
          <p:nvPr/>
        </p:nvSpPr>
        <p:spPr>
          <a:xfrm>
            <a:off x="7667233" y="2773200"/>
            <a:ext cx="1475338" cy="57217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2" name="Left-right Arrow 11">
            <a:extLst>
              <a:ext uri="{FF2B5EF4-FFF2-40B4-BE49-F238E27FC236}">
                <a16:creationId xmlns:a16="http://schemas.microsoft.com/office/drawing/2014/main" id="{28D28D39-70C2-A915-6C20-9EDB0224088E}"/>
              </a:ext>
            </a:extLst>
          </p:cNvPr>
          <p:cNvSpPr/>
          <p:nvPr/>
        </p:nvSpPr>
        <p:spPr>
          <a:xfrm>
            <a:off x="7672812" y="3603536"/>
            <a:ext cx="1475339" cy="57217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5" name="Left-right Arrow 14">
            <a:extLst>
              <a:ext uri="{FF2B5EF4-FFF2-40B4-BE49-F238E27FC236}">
                <a16:creationId xmlns:a16="http://schemas.microsoft.com/office/drawing/2014/main" id="{22B64B59-76ED-B9B5-2E08-A1B3CFFE8B04}"/>
              </a:ext>
            </a:extLst>
          </p:cNvPr>
          <p:cNvSpPr/>
          <p:nvPr/>
        </p:nvSpPr>
        <p:spPr>
          <a:xfrm>
            <a:off x="7667233" y="1920454"/>
            <a:ext cx="1475338" cy="57217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9D90086-4A5C-5184-60C2-23ED4876B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7197" y="1889748"/>
            <a:ext cx="875405" cy="625289"/>
          </a:xfrm>
          <a:prstGeom prst="rect">
            <a:avLst/>
          </a:prstGeom>
        </p:spPr>
      </p:pic>
      <p:sp>
        <p:nvSpPr>
          <p:cNvPr id="17" name="Left-right Arrow 16">
            <a:extLst>
              <a:ext uri="{FF2B5EF4-FFF2-40B4-BE49-F238E27FC236}">
                <a16:creationId xmlns:a16="http://schemas.microsoft.com/office/drawing/2014/main" id="{60321EF2-905A-4220-368F-DE60E7860BEE}"/>
              </a:ext>
            </a:extLst>
          </p:cNvPr>
          <p:cNvSpPr/>
          <p:nvPr/>
        </p:nvSpPr>
        <p:spPr>
          <a:xfrm>
            <a:off x="7667232" y="4365374"/>
            <a:ext cx="1475339" cy="57217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4ACF20D-77CD-4C7E-B675-EEB921A93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989" y="2989099"/>
            <a:ext cx="698570" cy="15449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571E11F-FD19-5569-73CE-5F7A90DE15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7012" y="4410198"/>
            <a:ext cx="482523" cy="48252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63EE4B6-16A8-6B1F-110A-B0E37FC94A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8801" y="3788731"/>
            <a:ext cx="738758" cy="20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563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C0C7B-3D4C-4A81-88B2-21A67D18B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866FDE8-6D6C-959F-E621-9FEBD5ADA6BA}"/>
              </a:ext>
            </a:extLst>
          </p:cNvPr>
          <p:cNvSpPr/>
          <p:nvPr/>
        </p:nvSpPr>
        <p:spPr>
          <a:xfrm>
            <a:off x="8753138" y="1663549"/>
            <a:ext cx="1398488" cy="35308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08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      APIs</a:t>
            </a:r>
          </a:p>
          <a:p>
            <a:pPr algn="ctr"/>
            <a:r>
              <a:rPr lang="en-CH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     &amp;</a:t>
            </a:r>
            <a:br>
              <a:rPr lang="en-CH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</a:br>
            <a:r>
              <a:rPr lang="en-CH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     Data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3C1CE304-FE95-1502-A2C6-BCD998125FC6}"/>
              </a:ext>
            </a:extLst>
          </p:cNvPr>
          <p:cNvSpPr/>
          <p:nvPr/>
        </p:nvSpPr>
        <p:spPr>
          <a:xfrm rot="-240000">
            <a:off x="3230000" y="3900000"/>
            <a:ext cx="2950000" cy="1150000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Sora" pitchFamily="2" charset="0"/>
                <a:cs typeface="Sora" pitchFamily="2" charset="0"/>
              </a:rPr>
              <a:t>Deterministic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D42EBA-3A36-C077-A178-30ECC2553D5E}"/>
              </a:ext>
            </a:extLst>
          </p:cNvPr>
          <p:cNvSpPr/>
          <p:nvPr/>
        </p:nvSpPr>
        <p:spPr>
          <a:xfrm rot="180000">
            <a:off x="3260000" y="1750000"/>
            <a:ext cx="2050000" cy="1650000"/>
          </a:xfrm>
          <a:prstGeom prst="rect">
            <a:avLst/>
          </a:prstGeom>
          <a:solidFill>
            <a:schemeClr val="tx2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Sora" pitchFamily="2" charset="0"/>
                <a:cs typeface="Sora" pitchFamily="2" charset="0"/>
              </a:rPr>
              <a:t>GenAI</a:t>
            </a:r>
          </a:p>
        </p:txBody>
      </p:sp>
      <p:sp>
        <p:nvSpPr>
          <p:cNvPr id="28" name="ML"/>
          <p:cNvSpPr/>
          <p:nvPr/>
        </p:nvSpPr>
        <p:spPr>
          <a:xfrm rot="-540000">
            <a:off x="5050000" y="2950000"/>
            <a:ext cx="1250000" cy="850000"/>
          </a:xfrm>
          <a:prstGeom prst="rect">
            <a:avLst/>
          </a:prstGeom>
          <a:solidFill>
            <a:srgbClr val="637E3C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Sora" pitchFamily="2" charset="0"/>
                <a:cs typeface="Sora" pitchFamily="2" charset="0"/>
              </a:rPr>
              <a:t>ML</a:t>
            </a:r>
          </a:p>
        </p:txBody>
      </p:sp>
      <p:sp>
        <p:nvSpPr>
          <p:cNvPr id="29" name="Prompts"/>
          <p:cNvSpPr/>
          <p:nvPr/>
        </p:nvSpPr>
        <p:spPr>
          <a:xfrm rot="-300000">
            <a:off x="3550000" y="1420000"/>
            <a:ext cx="1750000" cy="450000"/>
          </a:xfrm>
          <a:prstGeom prst="rect">
            <a:avLst/>
          </a:prstGeom>
          <a:solidFill>
            <a:srgbClr val="637E3C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Sora" pitchFamily="2" charset="0"/>
                <a:cs typeface="Sora" pitchFamily="2" charset="0"/>
              </a:rPr>
              <a:t>Prompts</a:t>
            </a:r>
          </a:p>
        </p:txBody>
      </p:sp>
      <p:sp>
        <p:nvSpPr>
          <p:cNvPr id="30" name="RLCD"/>
          <p:cNvSpPr/>
          <p:nvPr/>
        </p:nvSpPr>
        <p:spPr>
          <a:xfrm rot="-240000">
            <a:off x="6000000" y="4600000"/>
            <a:ext cx="1400000" cy="450000"/>
          </a:xfrm>
          <a:prstGeom prst="rect">
            <a:avLst/>
          </a:prstGeom>
          <a:solidFill>
            <a:srgbClr val="637E3C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Sora" pitchFamily="2" charset="0"/>
                <a:cs typeface="Sora" pitchFamily="2" charset="0"/>
              </a:rPr>
              <a:t>RLCD</a:t>
            </a:r>
          </a:p>
        </p:txBody>
      </p:sp>
      <p:sp>
        <p:nvSpPr>
          <p:cNvPr id="31" name="GenAI small 1"/>
          <p:cNvSpPr/>
          <p:nvPr/>
        </p:nvSpPr>
        <p:spPr>
          <a:xfrm rot="-720000">
            <a:off x="5400000" y="1250000"/>
            <a:ext cx="940000" cy="520000"/>
          </a:xfrm>
          <a:prstGeom prst="rect">
            <a:avLst/>
          </a:prstGeom>
          <a:solidFill>
            <a:srgbClr val="637E3C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Sora" pitchFamily="2" charset="0"/>
                <a:cs typeface="Sora" pitchFamily="2" charset="0"/>
              </a:rPr>
              <a:t>GenAI</a:t>
            </a:r>
          </a:p>
        </p:txBody>
      </p:sp>
      <p:sp>
        <p:nvSpPr>
          <p:cNvPr id="32" name="GenAI small 2"/>
          <p:cNvSpPr/>
          <p:nvPr/>
        </p:nvSpPr>
        <p:spPr>
          <a:xfrm rot="540000">
            <a:off x="3300000" y="4750000"/>
            <a:ext cx="940000" cy="520000"/>
          </a:xfrm>
          <a:prstGeom prst="rect">
            <a:avLst/>
          </a:prstGeom>
          <a:solidFill>
            <a:srgbClr val="637E3C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Sora" pitchFamily="2" charset="0"/>
                <a:cs typeface="Sora" pitchFamily="2" charset="0"/>
              </a:rPr>
              <a:t>GenAI</a:t>
            </a:r>
          </a:p>
        </p:txBody>
      </p:sp>
      <p:sp>
        <p:nvSpPr>
          <p:cNvPr id="33" name="GenAI small 3"/>
          <p:cNvSpPr/>
          <p:nvPr/>
        </p:nvSpPr>
        <p:spPr>
          <a:xfrm rot="-180000">
            <a:off x="4250000" y="3550000"/>
            <a:ext cx="940000" cy="520000"/>
          </a:xfrm>
          <a:prstGeom prst="rect">
            <a:avLst/>
          </a:prstGeom>
          <a:solidFill>
            <a:srgbClr val="637E3C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Sora" pitchFamily="2" charset="0"/>
                <a:cs typeface="Sora" pitchFamily="2" charset="0"/>
              </a:rPr>
              <a:t>GenAI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C1ABF8-3F65-093E-B197-103EDF570F7F}"/>
              </a:ext>
            </a:extLst>
          </p:cNvPr>
          <p:cNvCxnSpPr>
            <a:cxnSpLocks/>
          </p:cNvCxnSpPr>
          <p:nvPr/>
        </p:nvCxnSpPr>
        <p:spPr>
          <a:xfrm>
            <a:off x="8419652" y="1245196"/>
            <a:ext cx="0" cy="4682268"/>
          </a:xfrm>
          <a:prstGeom prst="line">
            <a:avLst/>
          </a:prstGeom>
          <a:ln w="2540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7403FA8-B9DE-E875-CC73-2B20822F1190}"/>
              </a:ext>
            </a:extLst>
          </p:cNvPr>
          <p:cNvSpPr txBox="1"/>
          <p:nvPr/>
        </p:nvSpPr>
        <p:spPr>
          <a:xfrm>
            <a:off x="5027530" y="5428134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Sora" pitchFamily="2" charset="0"/>
                <a:cs typeface="Sora" pitchFamily="2" charset="0"/>
              </a:rPr>
              <a:t>Solution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6E6235-A8D4-B8D1-8D9E-B5C7A10A43D7}"/>
              </a:ext>
            </a:extLst>
          </p:cNvPr>
          <p:cNvSpPr txBox="1"/>
          <p:nvPr/>
        </p:nvSpPr>
        <p:spPr>
          <a:xfrm>
            <a:off x="8709483" y="5428134"/>
            <a:ext cx="1540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Sora" pitchFamily="2" charset="0"/>
                <a:cs typeface="Sora" pitchFamily="2" charset="0"/>
              </a:rPr>
              <a:t>Foundation</a:t>
            </a:r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B8ED3412-7C0A-F0B3-C996-3914712AB6A1}"/>
              </a:ext>
            </a:extLst>
          </p:cNvPr>
          <p:cNvSpPr/>
          <p:nvPr/>
        </p:nvSpPr>
        <p:spPr>
          <a:xfrm>
            <a:off x="1369100" y="2695096"/>
            <a:ext cx="1394906" cy="563878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400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Input</a:t>
            </a:r>
            <a:endParaRPr lang="en-CH" dirty="0">
              <a:solidFill>
                <a:schemeClr val="accent2"/>
              </a:solidFill>
              <a:latin typeface="Sora" pitchFamily="2" charset="0"/>
              <a:cs typeface="Sora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A5EE44-23E2-65E1-12F1-99311E749AE2}"/>
              </a:ext>
            </a:extLst>
          </p:cNvPr>
          <p:cNvSpPr txBox="1"/>
          <p:nvPr/>
        </p:nvSpPr>
        <p:spPr>
          <a:xfrm>
            <a:off x="1303140" y="3267269"/>
            <a:ext cx="1534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Sora" pitchFamily="2" charset="0"/>
                <a:cs typeface="Sora" pitchFamily="2" charset="0"/>
              </a:rPr>
              <a:t>Consumers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23D23993-EDF2-8DE0-FB10-29A4CEEC4BD1}"/>
              </a:ext>
            </a:extLst>
          </p:cNvPr>
          <p:cNvSpPr/>
          <p:nvPr/>
        </p:nvSpPr>
        <p:spPr>
          <a:xfrm>
            <a:off x="1343113" y="3645649"/>
            <a:ext cx="1394906" cy="563878"/>
          </a:xfrm>
          <a:prstGeom prst="lef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400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Output</a:t>
            </a:r>
            <a:endParaRPr lang="en-CH" dirty="0">
              <a:solidFill>
                <a:schemeClr val="accent2"/>
              </a:solidFill>
              <a:latin typeface="Sora" pitchFamily="2" charset="0"/>
              <a:cs typeface="Sora" pitchFamily="2" charset="0"/>
            </a:endParaRPr>
          </a:p>
        </p:txBody>
      </p:sp>
      <p:sp>
        <p:nvSpPr>
          <p:cNvPr id="34" name="Function Calling"/>
          <p:cNvSpPr/>
          <p:nvPr/>
        </p:nvSpPr>
        <p:spPr>
          <a:xfrm rot="-1020000">
            <a:off x="5763732" y="3789503"/>
            <a:ext cx="1475338" cy="57217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900" dirty="0">
                <a:solidFill>
                  <a:schemeClr val="accent2"/>
                </a:solidFill>
                <a:latin typeface="Sora" pitchFamily="2" charset="0"/>
                <a:cs typeface="Sora" pitchFamily="2" charset="0"/>
              </a:rPr>
              <a:t>Function Calling</a:t>
            </a:r>
          </a:p>
        </p:txBody>
      </p:sp>
      <p:sp>
        <p:nvSpPr>
          <p:cNvPr id="35" name="Agent Skills"/>
          <p:cNvSpPr/>
          <p:nvPr/>
        </p:nvSpPr>
        <p:spPr>
          <a:xfrm rot="300000">
            <a:off x="4666965" y="2322680"/>
            <a:ext cx="3500000" cy="760000"/>
          </a:xfrm>
          <a:prstGeom prst="leftRightArrow">
            <a:avLst/>
          </a:prstGeom>
          <a:solidFill>
            <a:srgbClr val="637E3C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400" dirty="0">
                <a:solidFill>
                  <a:schemeClr val="bg1"/>
                </a:solidFill>
                <a:latin typeface="Sora" pitchFamily="2" charset="0"/>
                <a:cs typeface="Sora" pitchFamily="2" charset="0"/>
              </a:rPr>
              <a:t>Agent Skills</a:t>
            </a:r>
          </a:p>
        </p:txBody>
      </p:sp>
      <p:grpSp>
        <p:nvGrpSpPr>
          <p:cNvPr id="23" name="MCP group"/>
          <p:cNvGrpSpPr/>
          <p:nvPr/>
        </p:nvGrpSpPr>
        <p:grpSpPr>
          <a:xfrm rot="-420000">
            <a:off x="5638182" y="1583283"/>
            <a:ext cx="3385701" cy="860367"/>
            <a:chOff x="5888182" y="1783283"/>
            <a:chExt cx="3385701" cy="860367"/>
          </a:xfrm>
        </p:grpSpPr>
        <p:sp>
          <p:nvSpPr>
            <p:cNvPr id="22" name="Left-right Arrow 21">
              <a:extLst>
                <a:ext uri="{FF2B5EF4-FFF2-40B4-BE49-F238E27FC236}">
                  <a16:creationId xmlns:a16="http://schemas.microsoft.com/office/drawing/2014/main" id="{D1A0B776-4178-644F-42F6-AA312CEB1120}"/>
                </a:ext>
              </a:extLst>
            </p:cNvPr>
            <p:cNvSpPr/>
            <p:nvPr/>
          </p:nvSpPr>
          <p:spPr>
            <a:xfrm>
              <a:off x="5888182" y="1783283"/>
              <a:ext cx="3385701" cy="860367"/>
            </a:xfrm>
            <a:prstGeom prst="left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900" dirty="0">
                <a:solidFill>
                  <a:schemeClr val="accent2"/>
                </a:solidFill>
                <a:latin typeface="Sora" pitchFamily="2" charset="0"/>
                <a:cs typeface="Sora" pitchFamily="2" charset="0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13B9BF5-9256-396D-B56D-3F301B8BE0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9357" y="2025731"/>
              <a:ext cx="2480992" cy="361141"/>
            </a:xfrm>
            <a:prstGeom prst="rect">
              <a:avLst/>
            </a:prstGeom>
          </p:spPr>
        </p:pic>
      </p:grpSp>
      <p:sp>
        <p:nvSpPr>
          <p:cNvPr id="14" name="Left-right Arrow 13">
            <a:extLst>
              <a:ext uri="{FF2B5EF4-FFF2-40B4-BE49-F238E27FC236}">
                <a16:creationId xmlns:a16="http://schemas.microsoft.com/office/drawing/2014/main" id="{C89D6BE6-B089-1784-1775-BB5F3AB76FC1}"/>
              </a:ext>
            </a:extLst>
          </p:cNvPr>
          <p:cNvSpPr/>
          <p:nvPr/>
        </p:nvSpPr>
        <p:spPr>
          <a:xfrm>
            <a:off x="7667233" y="3407721"/>
            <a:ext cx="1475338" cy="486347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8" name="Left-right Arrow 17">
            <a:extLst>
              <a:ext uri="{FF2B5EF4-FFF2-40B4-BE49-F238E27FC236}">
                <a16:creationId xmlns:a16="http://schemas.microsoft.com/office/drawing/2014/main" id="{756D2953-0D88-BC36-731C-3E2FC6820C8E}"/>
              </a:ext>
            </a:extLst>
          </p:cNvPr>
          <p:cNvSpPr/>
          <p:nvPr/>
        </p:nvSpPr>
        <p:spPr>
          <a:xfrm>
            <a:off x="7667233" y="3994831"/>
            <a:ext cx="1475339" cy="486347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6" name="Left-right Arrow 35">
            <a:extLst>
              <a:ext uri="{FF2B5EF4-FFF2-40B4-BE49-F238E27FC236}">
                <a16:creationId xmlns:a16="http://schemas.microsoft.com/office/drawing/2014/main" id="{0972965A-4B14-AD06-69A3-FDE87A46C928}"/>
              </a:ext>
            </a:extLst>
          </p:cNvPr>
          <p:cNvSpPr/>
          <p:nvPr/>
        </p:nvSpPr>
        <p:spPr>
          <a:xfrm>
            <a:off x="7667233" y="2820612"/>
            <a:ext cx="1475338" cy="486347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60AE11E-C974-D05C-25F8-0AB79E8B4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7197" y="2746993"/>
            <a:ext cx="875405" cy="625289"/>
          </a:xfrm>
          <a:prstGeom prst="rect">
            <a:avLst/>
          </a:prstGeom>
        </p:spPr>
      </p:pic>
      <p:sp>
        <p:nvSpPr>
          <p:cNvPr id="38" name="Left-right Arrow 37">
            <a:extLst>
              <a:ext uri="{FF2B5EF4-FFF2-40B4-BE49-F238E27FC236}">
                <a16:creationId xmlns:a16="http://schemas.microsoft.com/office/drawing/2014/main" id="{19142504-31F1-39A1-9E05-D2D8B369BD8F}"/>
              </a:ext>
            </a:extLst>
          </p:cNvPr>
          <p:cNvSpPr/>
          <p:nvPr/>
        </p:nvSpPr>
        <p:spPr>
          <a:xfrm>
            <a:off x="7667233" y="4581940"/>
            <a:ext cx="1475339" cy="486347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25ADE6CE-0630-4E75-CCC9-4CDE993AF0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989" y="3580707"/>
            <a:ext cx="698570" cy="1544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14E31B9D-8C4F-7BCB-0D79-CB1DA10F97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7013" y="4583851"/>
            <a:ext cx="482523" cy="482523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C3E8B83-32AC-1BB3-7A26-02A17B3749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3222" y="4137113"/>
            <a:ext cx="738758" cy="20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98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penAPI Initiative">
      <a:dk1>
        <a:srgbClr val="000000"/>
      </a:dk1>
      <a:lt1>
        <a:srgbClr val="FFFFFF"/>
      </a:lt1>
      <a:dk2>
        <a:srgbClr val="4B5B2A"/>
      </a:dk2>
      <a:lt2>
        <a:srgbClr val="E7E6E6"/>
      </a:lt2>
      <a:accent1>
        <a:srgbClr val="6BA538"/>
      </a:accent1>
      <a:accent2>
        <a:srgbClr val="4B5B2A"/>
      </a:accent2>
      <a:accent3>
        <a:srgbClr val="97D700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7cbd278-44e5-46af-a5d9-924af6d28f4a}">
  <we:reference id="WA200010001" version="1.0.0.1" store="en-US" storeType="OMEX"/>
  <we:alternateReferences/>
  <we:properties>
    <we:property name="Microsoft.Office.CampaignId" value="&quot;none&quot;"/>
    <we:property name="claude.fileId" value="&quot;3229a3b5-e41a-42e2-ab36-856bc9ed0815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3090</TotalTime>
  <Words>192</Words>
  <Application>Microsoft Macintosh PowerPoint</Application>
  <PresentationFormat>Widescreen</PresentationFormat>
  <Paragraphs>132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Sora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Wilde, Erik</cp:lastModifiedBy>
  <cp:revision>8</cp:revision>
  <dcterms:created xsi:type="dcterms:W3CDTF">2018-06-07T21:39:02Z</dcterms:created>
  <dcterms:modified xsi:type="dcterms:W3CDTF">2026-10-10T19:36:38Z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