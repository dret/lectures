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9" r:id="rId10"/>
    <p:sldId id="274" r:id="rId11"/>
    <p:sldId id="277" r:id="rId12"/>
    <p:sldId id="268" r:id="rId13"/>
    <p:sldId id="286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  <a:srgbClr val="4241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332"/>
    <p:restoredTop sz="94647"/>
  </p:normalViewPr>
  <p:slideViewPr>
    <p:cSldViewPr snapToGrid="0" snapToObjects="1">
      <p:cViewPr varScale="1">
        <p:scale>
          <a:sx n="113" d="100"/>
          <a:sy n="113" d="100"/>
        </p:scale>
        <p:origin x="17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org&amp;utm_campaign=index&amp;utm_content=thumbnai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org&amp;utm_campaign=index&amp;utm_content=thumbnail"/><Relationship Id="rId7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BAF0D8-25F1-DF7A-5253-04E404DC8018}"/>
              </a:ext>
            </a:extLst>
          </p:cNvPr>
          <p:cNvSpPr txBox="1"/>
          <p:nvPr/>
        </p:nvSpPr>
        <p:spPr>
          <a:xfrm>
            <a:off x="5636631" y="3788731"/>
            <a:ext cx="215344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9600" dirty="0"/>
              <a:t>🦄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8092-6BD1-A5C6-C86B-E15666EB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F14C5-FDA1-F239-ABAA-BBD2F9A22723}"/>
              </a:ext>
            </a:extLst>
          </p:cNvPr>
          <p:cNvSpPr/>
          <p:nvPr/>
        </p:nvSpPr>
        <p:spPr>
          <a:xfrm>
            <a:off x="3171019" y="1663549"/>
            <a:ext cx="2220322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2C2C1-C451-C4FC-A80A-8CFCAF1C9F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B4F692F-848B-403D-9641-86D44B1FCA6A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0 h 2218764"/>
              <a:gd name="csX3" fmla="*/ 3348726 w 4908176"/>
              <a:gd name="csY3" fmla="*/ 0 h 2218764"/>
              <a:gd name="csX4" fmla="*/ 3348726 w 4908176"/>
              <a:gd name="csY4" fmla="*/ 889637 h 2218764"/>
              <a:gd name="csX5" fmla="*/ 3347586 w 4908176"/>
              <a:gd name="csY5" fmla="*/ 1560572 h 2218764"/>
              <a:gd name="csX6" fmla="*/ 2312726 w 4908176"/>
              <a:gd name="csY6" fmla="*/ 1564342 h 2218764"/>
              <a:gd name="csX7" fmla="*/ 0 w 4908176"/>
              <a:gd name="csY7" fmla="*/ 1564342 h 2218764"/>
              <a:gd name="csX8" fmla="*/ 0 w 4908176"/>
              <a:gd name="csY8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2487839"/>
                </a:lnTo>
                <a:lnTo>
                  <a:pt x="0" y="2487839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B9339-800E-B2FB-7267-B2900A51C869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2B4ECF9-9C28-1604-75E4-F76D35A6FBE8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36511-2269-C4A6-8FE6-07611CE67E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03EC7F-AAC5-8944-9C7D-B0F4EA3BDF6F}"/>
              </a:ext>
            </a:extLst>
          </p:cNvPr>
          <p:cNvSpPr/>
          <p:nvPr/>
        </p:nvSpPr>
        <p:spPr>
          <a:xfrm>
            <a:off x="5484597" y="1663549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B0074-0C66-1D1B-93E0-BD33B0429D09}"/>
              </a:ext>
            </a:extLst>
          </p:cNvPr>
          <p:cNvSpPr/>
          <p:nvPr/>
        </p:nvSpPr>
        <p:spPr>
          <a:xfrm>
            <a:off x="5484597" y="2286970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FE47B49E-BBE9-F93C-628C-C1AB7CF7C8F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DEEB3-7B5A-3BC0-08A3-F2674C8701A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BC3D52B-9628-64F0-BC5D-608C5BFB4FF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C05D856-D801-3FBD-15C0-412927062042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C12A45D-99DE-22D2-C7C0-CDEE484A8FF9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553B197B-0477-1B1C-250F-ABDF9A6DCFF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CEA0B4-7C12-239C-62DF-3862A800B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880B4054-C7C3-AE8A-3B3A-AA761F0CEB1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E5FF16-D025-398C-FFA9-F3A7ADE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9283CD-35AA-7446-72C1-B67920869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81F5E70-B0DF-361D-4B1F-FFB7AF4AA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29B0963-3D12-A2F6-311B-20584F6F6643}"/>
              </a:ext>
            </a:extLst>
          </p:cNvPr>
          <p:cNvSpPr/>
          <p:nvPr/>
        </p:nvSpPr>
        <p:spPr>
          <a:xfrm>
            <a:off x="5484597" y="3533812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1CE09-FD00-4436-536F-A40C13FF7AAD}"/>
              </a:ext>
            </a:extLst>
          </p:cNvPr>
          <p:cNvSpPr/>
          <p:nvPr/>
        </p:nvSpPr>
        <p:spPr>
          <a:xfrm>
            <a:off x="5484597" y="2910391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2289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61C3-D382-58F9-B1D1-0F604F3DB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26DFA8-4970-4012-8F98-B2EF8CC91FE2}"/>
              </a:ext>
            </a:extLst>
          </p:cNvPr>
          <p:cNvSpPr/>
          <p:nvPr/>
        </p:nvSpPr>
        <p:spPr>
          <a:xfrm>
            <a:off x="3169920" y="1663548"/>
            <a:ext cx="3252971" cy="203469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758499-1B23-7177-75A6-BA116965F95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144FF2-C5B0-13E1-20B3-F02C8329C724}"/>
              </a:ext>
            </a:extLst>
          </p:cNvPr>
          <p:cNvSpPr/>
          <p:nvPr/>
        </p:nvSpPr>
        <p:spPr>
          <a:xfrm>
            <a:off x="3169920" y="3761921"/>
            <a:ext cx="4908176" cy="1432529"/>
          </a:xfrm>
          <a:custGeom>
            <a:avLst/>
            <a:gdLst/>
            <a:ahLst/>
            <a:cxnLst/>
            <a:rect l="l" t="t" r="r" b="b"/>
            <a:pathLst>
              <a:path w="4908176" h="1432529">
                <a:moveTo>
                  <a:pt x="0" y="1432529"/>
                </a:moveTo>
                <a:lnTo>
                  <a:pt x="4908176" y="1432529"/>
                </a:lnTo>
                <a:lnTo>
                  <a:pt x="4908176" y="411048"/>
                </a:lnTo>
                <a:lnTo>
                  <a:pt x="3252971" y="411048"/>
                </a:lnTo>
                <a:lnTo>
                  <a:pt x="325297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B4051A-70E4-60FE-BF82-8EDA0CD9B7C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2211B5-3CCE-FA76-1E3A-360B222A3E55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8A366-F139-CA5D-0FAA-960711D5974E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F7655E4-45E8-A6CE-83D9-BC1981EF866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09D94E-5D13-7C85-C849-9DF97CB3379D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25B5CA8-A686-208D-6721-5B5B31B398F4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5F164A1-CDDA-FAA4-0BCF-AB849777251D}"/>
              </a:ext>
            </a:extLst>
          </p:cNvPr>
          <p:cNvSpPr/>
          <p:nvPr/>
        </p:nvSpPr>
        <p:spPr>
          <a:xfrm>
            <a:off x="7667233" y="4411222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2E67FC-4C29-FBD8-7543-0CBD94088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172" y="4384663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915806-01CB-B976-156A-3F43C15B2C70}"/>
              </a:ext>
            </a:extLst>
          </p:cNvPr>
          <p:cNvSpPr txBox="1"/>
          <p:nvPr/>
        </p:nvSpPr>
        <p:spPr>
          <a:xfrm>
            <a:off x="8550181" y="4597942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555AAA-EAA9-3DFF-B1FE-F33011064DC0}"/>
              </a:ext>
            </a:extLst>
          </p:cNvPr>
          <p:cNvSpPr/>
          <p:nvPr/>
        </p:nvSpPr>
        <p:spPr>
          <a:xfrm>
            <a:off x="6486391" y="1663548"/>
            <a:ext cx="1591705" cy="2445921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Workflows</a:t>
            </a:r>
          </a:p>
        </p:txBody>
      </p:sp>
      <p:sp>
        <p:nvSpPr>
          <p:cNvPr id="16" name="Left-right Arrow 15">
            <a:extLst>
              <a:ext uri="{FF2B5EF4-FFF2-40B4-BE49-F238E27FC236}">
                <a16:creationId xmlns:a16="http://schemas.microsoft.com/office/drawing/2014/main" id="{87678275-C4AC-6493-75CD-43156CC573E4}"/>
              </a:ext>
            </a:extLst>
          </p:cNvPr>
          <p:cNvSpPr/>
          <p:nvPr/>
        </p:nvSpPr>
        <p:spPr>
          <a:xfrm>
            <a:off x="5688987" y="1726556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23D173D-852B-4BFA-719E-11928965D9B7}"/>
              </a:ext>
            </a:extLst>
          </p:cNvPr>
          <p:cNvSpPr/>
          <p:nvPr/>
        </p:nvSpPr>
        <p:spPr>
          <a:xfrm>
            <a:off x="5676614" y="2371775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       MCP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C44996-69EE-2FC6-A39C-C4E7820A6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699" y="2550033"/>
            <a:ext cx="202621" cy="202621"/>
          </a:xfrm>
          <a:prstGeom prst="rect">
            <a:avLst/>
          </a:prstGeom>
        </p:spPr>
      </p:pic>
      <p:sp>
        <p:nvSpPr>
          <p:cNvPr id="20" name="Left-right Arrow 19">
            <a:extLst>
              <a:ext uri="{FF2B5EF4-FFF2-40B4-BE49-F238E27FC236}">
                <a16:creationId xmlns:a16="http://schemas.microsoft.com/office/drawing/2014/main" id="{CD883534-6E9E-15D2-50B8-1EACE2C84E87}"/>
              </a:ext>
            </a:extLst>
          </p:cNvPr>
          <p:cNvSpPr/>
          <p:nvPr/>
        </p:nvSpPr>
        <p:spPr>
          <a:xfrm>
            <a:off x="5682691" y="3016994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1E1CFF0-2EBF-68E9-9471-266E36C93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941" y="2061017"/>
            <a:ext cx="493370" cy="4881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11E5123-261D-7D56-531A-81ECD9373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385" y="2721508"/>
            <a:ext cx="369332" cy="369332"/>
          </a:xfrm>
          <a:prstGeom prst="rect">
            <a:avLst/>
          </a:prstGeom>
        </p:spPr>
      </p:pic>
      <p:sp>
        <p:nvSpPr>
          <p:cNvPr id="25" name="Left-right Arrow 24">
            <a:extLst>
              <a:ext uri="{FF2B5EF4-FFF2-40B4-BE49-F238E27FC236}">
                <a16:creationId xmlns:a16="http://schemas.microsoft.com/office/drawing/2014/main" id="{ED1F880D-F54A-5CB5-55F0-CF119DB38086}"/>
              </a:ext>
            </a:extLst>
          </p:cNvPr>
          <p:cNvSpPr/>
          <p:nvPr/>
        </p:nvSpPr>
        <p:spPr>
          <a:xfrm>
            <a:off x="7650439" y="258763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CEC855A-7B14-E2C2-EFE1-737E8A13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378" y="2561071"/>
            <a:ext cx="875405" cy="62528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A18F686-EEDC-8F80-47E4-9D31532984A0}"/>
              </a:ext>
            </a:extLst>
          </p:cNvPr>
          <p:cNvSpPr txBox="1"/>
          <p:nvPr/>
        </p:nvSpPr>
        <p:spPr>
          <a:xfrm>
            <a:off x="8533387" y="277435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3674448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C16E00A8-064D-4280-1ADB-C212AF603DBC}"/>
              </a:ext>
            </a:extLst>
          </p:cNvPr>
          <p:cNvGrpSpPr/>
          <p:nvPr/>
        </p:nvGrpSpPr>
        <p:grpSpPr>
          <a:xfrm rot="6108404">
            <a:off x="5832063" y="2307678"/>
            <a:ext cx="1009774" cy="2445921"/>
            <a:chOff x="759858" y="4218575"/>
            <a:chExt cx="1009774" cy="244592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6232ED-D535-87EA-F84E-EFFB7F566477}"/>
                </a:ext>
              </a:extLst>
            </p:cNvPr>
            <p:cNvSpPr/>
            <p:nvPr/>
          </p:nvSpPr>
          <p:spPr>
            <a:xfrm>
              <a:off x="759858" y="4218575"/>
              <a:ext cx="1009774" cy="2445921"/>
            </a:xfrm>
            <a:prstGeom prst="rect">
              <a:avLst/>
            </a:prstGeom>
            <a:ln w="508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latin typeface="Sora" pitchFamily="2" charset="0"/>
                <a:cs typeface="Sora" pitchFamily="2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74629A-8395-9E7A-2DA2-209A85D1E06C}"/>
                </a:ext>
              </a:extLst>
            </p:cNvPr>
            <p:cNvSpPr txBox="1"/>
            <p:nvPr/>
          </p:nvSpPr>
          <p:spPr>
            <a:xfrm rot="16200000">
              <a:off x="581572" y="5291875"/>
              <a:ext cx="13296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CH" sz="200" dirty="0">
                <a:latin typeface="Sora" pitchFamily="2" charset="0"/>
                <a:cs typeface="Sora" pitchFamily="2" charset="0"/>
              </a:endParaRPr>
            </a:p>
            <a:p>
              <a:r>
                <a:rPr lang="en-CH" sz="1600" dirty="0">
                  <a:solidFill>
                    <a:schemeClr val="lt1"/>
                  </a:solidFill>
                  <a:latin typeface="Sora" pitchFamily="2" charset="0"/>
                  <a:cs typeface="Sora" pitchFamily="2" charset="0"/>
                </a:rPr>
                <a:t>Workflows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DD91352-AE4A-72C9-E4D5-95EF59AB9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7015" y="4323608"/>
              <a:ext cx="493370" cy="48812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80E7ABE-E4BF-5B6B-8CE7-8C9B04E3A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1719" y="6191628"/>
              <a:ext cx="369332" cy="369332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 rot="-240000">
            <a:off x="3230000" y="3900000"/>
            <a:ext cx="2950000" cy="1150000"/>
          </a:xfrm>
          <a:prstGeom prst="rect">
            <a:avLst/>
          </a:pr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 rot="180000">
            <a:off x="3260000" y="1750000"/>
            <a:ext cx="2050000" cy="1650000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ML"/>
          <p:cNvSpPr/>
          <p:nvPr/>
        </p:nvSpPr>
        <p:spPr>
          <a:xfrm rot="-540000">
            <a:off x="5050000" y="2950000"/>
            <a:ext cx="1250000" cy="8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ML</a:t>
            </a:r>
          </a:p>
        </p:txBody>
      </p:sp>
      <p:sp>
        <p:nvSpPr>
          <p:cNvPr id="29" name="Prompts"/>
          <p:cNvSpPr/>
          <p:nvPr/>
        </p:nvSpPr>
        <p:spPr>
          <a:xfrm rot="-300000">
            <a:off x="3550000" y="1420000"/>
            <a:ext cx="175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  <p:sp>
        <p:nvSpPr>
          <p:cNvPr id="30" name="RLCD"/>
          <p:cNvSpPr/>
          <p:nvPr/>
        </p:nvSpPr>
        <p:spPr>
          <a:xfrm rot="-240000">
            <a:off x="6000000" y="4600000"/>
            <a:ext cx="140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31" name="GenAI small 1"/>
          <p:cNvSpPr/>
          <p:nvPr/>
        </p:nvSpPr>
        <p:spPr>
          <a:xfrm rot="-720000">
            <a:off x="5400000" y="12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2" name="GenAI small 2"/>
          <p:cNvSpPr/>
          <p:nvPr/>
        </p:nvSpPr>
        <p:spPr>
          <a:xfrm rot="540000">
            <a:off x="3300000" y="47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3" name="GenAI small 3"/>
          <p:cNvSpPr/>
          <p:nvPr/>
        </p:nvSpPr>
        <p:spPr>
          <a:xfrm rot="-180000">
            <a:off x="4250000" y="35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4" name="Function Calling"/>
          <p:cNvSpPr/>
          <p:nvPr/>
        </p:nvSpPr>
        <p:spPr>
          <a:xfrm rot="-1020000">
            <a:off x="5367691" y="41225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35" name="Agent Skills"/>
          <p:cNvSpPr/>
          <p:nvPr/>
        </p:nvSpPr>
        <p:spPr>
          <a:xfrm rot="300000">
            <a:off x="4666965" y="2322680"/>
            <a:ext cx="3500000" cy="760000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grpSp>
        <p:nvGrpSpPr>
          <p:cNvPr id="23" name="MCP group"/>
          <p:cNvGrpSpPr/>
          <p:nvPr/>
        </p:nvGrpSpPr>
        <p:grpSpPr>
          <a:xfrm rot="-420000">
            <a:off x="5638182" y="1583283"/>
            <a:ext cx="3385701" cy="860367"/>
            <a:chOff x="5888182" y="1783283"/>
            <a:chExt cx="3385701" cy="860367"/>
          </a:xfrm>
        </p:grpSpPr>
        <p:sp>
          <p:nvSpPr>
            <p:cNvPr id="22" name="Left-right Arrow 21">
              <a:extLst>
                <a:ext uri="{FF2B5EF4-FFF2-40B4-BE49-F238E27FC236}">
                  <a16:creationId xmlns:a16="http://schemas.microsoft.com/office/drawing/2014/main" id="{D1A0B776-4178-644F-42F6-AA312CEB1120}"/>
                </a:ext>
              </a:extLst>
            </p:cNvPr>
            <p:cNvSpPr/>
            <p:nvPr/>
          </p:nvSpPr>
          <p:spPr>
            <a:xfrm>
              <a:off x="5888182" y="1783283"/>
              <a:ext cx="3385701" cy="860367"/>
            </a:xfrm>
            <a:prstGeom prst="left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13B9BF5-9256-396D-B56D-3F301B8BE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69357" y="2025731"/>
              <a:ext cx="2480992" cy="361141"/>
            </a:xfrm>
            <a:prstGeom prst="rect">
              <a:avLst/>
            </a:prstGeom>
          </p:spPr>
        </p:pic>
      </p:grp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C89D6BE6-B089-1784-1775-BB5F3AB76FC1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756D2953-0D88-BC36-731C-3E2FC6820C8E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6" name="Left-right Arrow 35">
            <a:extLst>
              <a:ext uri="{FF2B5EF4-FFF2-40B4-BE49-F238E27FC236}">
                <a16:creationId xmlns:a16="http://schemas.microsoft.com/office/drawing/2014/main" id="{0972965A-4B14-AD06-69A3-FDE87A46C928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60AE11E-C974-D05C-25F8-0AB79E8B4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38" name="Left-right Arrow 37">
            <a:extLst>
              <a:ext uri="{FF2B5EF4-FFF2-40B4-BE49-F238E27FC236}">
                <a16:creationId xmlns:a16="http://schemas.microsoft.com/office/drawing/2014/main" id="{19142504-31F1-39A1-9E05-D2D8B369BD8F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5ADE6CE-0630-4E75-CCC9-4CDE993AF0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E31B9D-8C4F-7BCB-0D79-CB1DA10F97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C3E8B83-32AC-1BB3-7A26-02A17B3749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8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4195</TotalTime>
  <Words>218</Words>
  <Application>Microsoft Macintosh PowerPoint</Application>
  <PresentationFormat>Widescreen</PresentationFormat>
  <Paragraphs>159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13</cp:revision>
  <dcterms:created xsi:type="dcterms:W3CDTF">2018-06-07T21:39:02Z</dcterms:created>
  <dcterms:modified xsi:type="dcterms:W3CDTF">2026-10-11T15:23:32Z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